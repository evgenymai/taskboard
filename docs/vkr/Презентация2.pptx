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81" r:id="rId9"/>
    <p:sldId id="265" r:id="rId10"/>
    <p:sldId id="282" r:id="rId11"/>
    <p:sldId id="283" r:id="rId12"/>
    <p:sldId id="284" r:id="rId13"/>
    <p:sldId id="285" r:id="rId14"/>
    <p:sldId id="270" r:id="rId15"/>
    <p:sldId id="271" r:id="rId16"/>
    <p:sldId id="272" r:id="rId17"/>
    <p:sldId id="279" r:id="rId18"/>
    <p:sldId id="278" r:id="rId19"/>
    <p:sldId id="274" r:id="rId20"/>
    <p:sldId id="275" r:id="rId21"/>
    <p:sldId id="280" r:id="rId22"/>
    <p:sldId id="276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7D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6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34C10F-E23D-41F4-898C-25EE7F4E2B4E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603DA2-47C4-476F-9B65-2921F347C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2472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603DA2-47C4-476F-9B65-2921F347C72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825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603DA2-47C4-476F-9B65-2921F347C72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0048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E7579-22F1-D22D-9879-ABD37AB77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85B16BE-2AA2-29A8-4A2B-7ED84D43ED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4AD32D1-8147-DE5F-D406-BE4457BFE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5EFF58-49EE-074A-B497-502E8226F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603DA2-47C4-476F-9B65-2921F347C72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428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FAD44-34E6-3347-448D-CC44C2DAE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363FACF-C044-8FB3-1286-58BC42FBB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89FC10F-401E-DCF8-C326-C6448F709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F3BC824-D71E-F129-5430-029D46A4C1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603DA2-47C4-476F-9B65-2921F347C72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69929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7D858-DBC1-421B-7A0C-DA84392B7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D9E2287-5B6D-D5F4-6F94-44CB1EDB2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77FD3CD-47B4-9608-B702-57076A710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332A4D-0D83-5072-88E9-59C10182AA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603DA2-47C4-476F-9B65-2921F347C72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026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B989F-EA33-3A72-471D-6C3B2EF0B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8038688-0670-84F9-64DD-6C193AB4C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B1855F0-13A1-C1EF-4C26-787F01B80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F3E81E-C506-B6CB-60B4-2D168EAA85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603DA2-47C4-476F-9B65-2921F347C72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4811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603DA2-47C4-476F-9B65-2921F347C726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4088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8CFCA2-3B5B-0637-797F-DD58246EC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99A2034-912C-4A7C-829D-A79AD7986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4C2F48-4F6E-6507-1B4D-8FFE67685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CBA05-9695-4980-AABB-9A95C96C6439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3F8516-A0E3-E085-A189-568E1DE05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26B7B8-41A3-00AC-29EA-FB1E44022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4965-9FB8-4E23-A681-7F3DA8AA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598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4E3B01-3F05-BF7A-9032-F0151934B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3B288B-A36B-1D0D-3FE7-85B296D30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28793E-6E3A-7931-5AD5-790B37B7B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6827B-BA4C-42BB-A9BC-70BE32E94E93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1A2029-5B9F-49BB-3D9A-AB75992AD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E25C23-BFEA-0F78-7C79-D0D4391B0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4965-9FB8-4E23-A681-7F3DA8AA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256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A3A7-FC2A-D3B8-8D6F-8176C9865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3B1470-6844-512B-F5E8-FDF7D6419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A593B1-2E4D-A586-88F9-D0311A6B2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9D2A9-D28F-40E1-BC6E-AF68C565C402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9A27C0-01FA-9389-8752-AC49AF472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07BC69-9817-4645-DB25-0EEB2991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4965-9FB8-4E23-A681-7F3DA8AA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732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0DCFD0-61D0-E4F5-E7D4-CE6633E00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4D11AB-9647-0025-A66A-714CB1FE86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7B406FB-6FAC-F673-98E7-B0CDF7DBE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CCE2EF-2FBC-1D33-42B0-F79B541A8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AAB04-E30F-47BB-ACA6-801241C4834E}" type="datetime1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4F42728-ED73-EB08-247E-639C06BD7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CAE7DA9-7213-3387-6AD7-C7760F59C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4965-9FB8-4E23-A681-7F3DA8AA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631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586534-42E9-8A49-D252-20E4851F8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677DC1-D20E-8D8F-8912-981435B54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BC9B676-B253-0110-1EA9-9D717F5B5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40C2067-777C-B811-74EE-A600B1714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E208111-172C-319A-8E7D-D92C84C56F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F9995A2-A5B9-8465-D5AB-3C5CFA77F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0223F-34F3-41F3-84DD-90B4A83E2897}" type="datetime1">
              <a:rPr lang="ru-RU" smtClean="0"/>
              <a:t>21.05.2026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ECCBA39-9063-5E6A-9020-0E0E580E4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3E5EB1A-A1AC-233F-D33F-D6F4DA19D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4965-9FB8-4E23-A681-7F3DA8AA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650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117CDF-57B5-6D5A-0E40-AD3209FC1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6023810-F97E-CEB6-1259-66D5CD6F1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AFED6-82AC-4D34-9C9D-C15DFC1A58CC}" type="datetime1">
              <a:rPr lang="ru-RU" smtClean="0"/>
              <a:t>21.05.2026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A8F239F-9E71-2D6E-D585-DE23EB8E7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8DF1209-F3FB-2BE7-9049-BB4778317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4965-9FB8-4E23-A681-7F3DA8AA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6108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E2FAE6E-2751-686F-9A6B-8B7440A5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81C79-D766-4E48-911E-FB16947E3A1C}" type="datetime1">
              <a:rPr lang="ru-RU" smtClean="0"/>
              <a:t>21.05.2026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C280B44-AC6D-E337-036C-120AF29DB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289349-88FC-B309-A590-C7FC5751A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4965-9FB8-4E23-A681-7F3DA8AA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6619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5105A1-D8EE-7232-15AD-89C1D9A58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65D244-34C4-A9FD-0AA9-4F10814BA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8284BEF-8237-584D-330A-F0DE3FF35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DEE695-F75F-B2F4-3AC9-22CAEA546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1B9FF-4CA6-4D71-BBC3-87422159A616}" type="datetime1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9105C70-5BB8-D277-CF33-C387DFA85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613858-39E7-53E0-F648-15E606FDA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4965-9FB8-4E23-A681-7F3DA8AA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7334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C2C8FB-5DE5-E489-5DF9-9A16778F9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8563DEB-BA8F-8AF0-FB3A-36A224B871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A59EA5-B757-483F-935E-11217777F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17DA53-410F-AF94-06D1-708E7BD0F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64FBA-BD2E-4027-9D88-A7FD6234F060}" type="datetime1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79F653-3ABC-7A44-52E1-C41AE3419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4B29BE-151A-2B3E-F459-8530208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4965-9FB8-4E23-A681-7F3DA8AA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5930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0FFE15-EE76-67CF-93DC-D96CAA51D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0281F9E-6F60-6EE8-E3E6-9C6ED7B22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CA2E8D-DD76-E5D0-A90B-6ED08A95B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3D5A-367C-481C-95F4-3EC78AF41499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CCDD03-9DAE-3B92-AABB-E28A7585E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0637B7-6F1F-382D-558A-B9E5D6FB0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4965-9FB8-4E23-A681-7F3DA8AA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1530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04688D6-6037-42B1-C86D-672AF94333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77A8740-1631-1DFE-8E44-FD9492671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643D67-37A8-BBC4-0569-7245F45AD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5DE9A-E2CA-4F56-AB94-ED1815698CF6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BE16D0-627F-5259-960E-29786C1A2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E095D2-60BA-B46D-170B-3E82F9FBC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4965-9FB8-4E23-A681-7F3DA8AA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4767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FE190B-BE43-26A4-EE5B-FDEFADC9A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C45B1FA-8696-7FA5-1580-BB5A4A497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C4DA59-070D-26B0-52CE-BC011789FE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8FD18-8514-4B58-B0CB-B6C5CA22C35A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BECF43-6501-24AC-CBAA-BD4CAACCC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19829F-C532-A144-4FD2-B64C78977D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94965-9FB8-4E23-A681-7F3DA8AA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23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projects/spring-boot" TargetMode="External"/><Relationship Id="rId7" Type="http://schemas.openxmlformats.org/officeDocument/2006/relationships/hyperlink" Target="https://vitest.dev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docker.com/" TargetMode="External"/><Relationship Id="rId5" Type="http://schemas.openxmlformats.org/officeDocument/2006/relationships/hyperlink" Target="https://www.postgresql.org/docs/" TargetMode="External"/><Relationship Id="rId4" Type="http://schemas.openxmlformats.org/officeDocument/2006/relationships/hyperlink" Target="https://react.dev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0083A24-9D8E-379E-7A9E-092A38FCB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0" y="-2009497"/>
            <a:ext cx="12191999" cy="91376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D9B795-2F98-665E-1FC2-434488EA9CD5}"/>
              </a:ext>
            </a:extLst>
          </p:cNvPr>
          <p:cNvSpPr txBox="1"/>
          <p:nvPr/>
        </p:nvSpPr>
        <p:spPr>
          <a:xfrm>
            <a:off x="1509690" y="216967"/>
            <a:ext cx="97631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Arial Narrow" panose="020B0606020202030204" pitchFamily="34" charset="0"/>
              </a:rPr>
              <a:t>Московский авиационный институт (национальный исследовательский университет)</a:t>
            </a:r>
          </a:p>
          <a:p>
            <a:pPr algn="ctr"/>
            <a:endParaRPr lang="ru-RU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algn="ctr"/>
            <a:r>
              <a:rPr lang="ru-RU" dirty="0">
                <a:solidFill>
                  <a:schemeClr val="bg1"/>
                </a:solidFill>
                <a:latin typeface="Arial Narrow" panose="020B0606020202030204" pitchFamily="34" charset="0"/>
              </a:rPr>
              <a:t>Институт № 8 «Компьютерные науки и прикладная математика»</a:t>
            </a:r>
          </a:p>
          <a:p>
            <a:pPr algn="ctr"/>
            <a:endParaRPr lang="ru-RU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algn="ctr"/>
            <a:r>
              <a:rPr lang="ru-RU" dirty="0">
                <a:solidFill>
                  <a:schemeClr val="bg1"/>
                </a:solidFill>
                <a:latin typeface="Arial Narrow" panose="020B0606020202030204" pitchFamily="34" charset="0"/>
              </a:rPr>
              <a:t>Кафедра № 806 «Вычислительная математика и программирование» </a:t>
            </a:r>
            <a:endParaRPr lang="ru-RU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A364D28E-17C8-109E-09D1-FDFDA4E7D5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2870" y="2068286"/>
            <a:ext cx="10053763" cy="2181576"/>
          </a:xfrm>
        </p:spPr>
        <p:txBody>
          <a:bodyPr anchor="b">
            <a:noAutofit/>
          </a:bodyPr>
          <a:lstStyle/>
          <a:p>
            <a:r>
              <a:rPr lang="ru-RU" sz="2800" dirty="0">
                <a:solidFill>
                  <a:srgbClr val="002060"/>
                </a:solidFill>
                <a:latin typeface="Arial Narrow" panose="020B0606020202030204" pitchFamily="34" charset="0"/>
              </a:rPr>
              <a:t>Выпускная квалификационная работа бакалавра</a:t>
            </a:r>
            <a:br>
              <a:rPr lang="ru-RU" sz="28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r>
              <a:rPr lang="ru-RU" sz="2800" dirty="0">
                <a:solidFill>
                  <a:srgbClr val="002060"/>
                </a:solidFill>
                <a:latin typeface="Arial Narrow" panose="020B0606020202030204" pitchFamily="34" charset="0"/>
              </a:rPr>
              <a:t>на тему:</a:t>
            </a:r>
            <a:br>
              <a:rPr lang="ru-RU" sz="3200" dirty="0">
                <a:solidFill>
                  <a:schemeClr val="accent1">
                    <a:lumMod val="50000"/>
                  </a:schemeClr>
                </a:solidFill>
                <a:latin typeface="Impact" panose="020B0806030902050204" pitchFamily="34" charset="0"/>
              </a:rPr>
            </a:br>
            <a:r>
              <a:rPr lang="ru-RU" sz="3200" b="1" dirty="0">
                <a:solidFill>
                  <a:srgbClr val="002060"/>
                </a:solidFill>
                <a:latin typeface="Impact" panose="020B0806030902050204" pitchFamily="34" charset="0"/>
              </a:rPr>
              <a:t>«Микросервисное веб-приложение для управления внутренними задачами, проектами и коммуникацией команды»</a:t>
            </a:r>
          </a:p>
        </p:txBody>
      </p:sp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9F1A3DE7-B118-809C-B8D2-71A09E28B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5589"/>
            <a:ext cx="10005951" cy="1915828"/>
          </a:xfrm>
        </p:spPr>
        <p:txBody>
          <a:bodyPr anchor="ctr">
            <a:normAutofit/>
          </a:bodyPr>
          <a:lstStyle/>
          <a:p>
            <a:pPr algn="l"/>
            <a:r>
              <a:rPr lang="ru-RU" sz="2000" b="1" dirty="0">
                <a:latin typeface="Arial Narrow" panose="020B0606020202030204" pitchFamily="34" charset="0"/>
              </a:rPr>
              <a:t>Студент группы М8О-407Б-22: </a:t>
            </a:r>
            <a:r>
              <a:rPr lang="ru-RU" sz="2000" dirty="0">
                <a:latin typeface="Arial Narrow" panose="020B0606020202030204" pitchFamily="34" charset="0"/>
              </a:rPr>
              <a:t>Кострюков Евгений Сергеевич</a:t>
            </a:r>
          </a:p>
          <a:p>
            <a:pPr algn="l"/>
            <a:r>
              <a:rPr lang="ru-RU" sz="2000" b="1" dirty="0">
                <a:latin typeface="Arial Narrow" panose="020B0606020202030204" pitchFamily="34" charset="0"/>
              </a:rPr>
              <a:t>Научный руководитель: </a:t>
            </a:r>
            <a:r>
              <a:rPr lang="ru-RU" sz="2000" dirty="0">
                <a:latin typeface="Arial Narrow" panose="020B0606020202030204" pitchFamily="34" charset="0"/>
              </a:rPr>
              <a:t>кандидат физико-математических наук, доцент, доцент 806 кафедры МАИ С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  <a:r>
              <a:rPr lang="ru-RU" sz="2000" dirty="0">
                <a:latin typeface="Arial Narrow" panose="020B0606020202030204" pitchFamily="34" charset="0"/>
              </a:rPr>
              <a:t>В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  <a:r>
              <a:rPr lang="ru-RU" sz="2000" dirty="0">
                <a:latin typeface="Arial Narrow" panose="020B0606020202030204" pitchFamily="34" charset="0"/>
              </a:rPr>
              <a:t>Кузнецова</a:t>
            </a:r>
          </a:p>
          <a:p>
            <a:r>
              <a:rPr lang="ru-RU" sz="2000" dirty="0">
                <a:latin typeface="Arial Narrow" panose="020B0606020202030204" pitchFamily="34" charset="0"/>
              </a:rPr>
              <a:t>Москва – 2026</a:t>
            </a:r>
          </a:p>
        </p:txBody>
      </p:sp>
      <p:pic>
        <p:nvPicPr>
          <p:cNvPr id="25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50EEBEED-F43F-1313-74FB-331441D265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490" y="216967"/>
            <a:ext cx="792480" cy="7635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98146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21FC49BB-5E04-792B-D96D-DA45EF5E16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11986CB-4169-4255-6692-00187F75E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70C0"/>
                </a:solidFill>
                <a:latin typeface="Impact" panose="020B0806030902050204" pitchFamily="34" charset="0"/>
              </a:rPr>
              <a:t>Постановка и актуальность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D492656C-32D7-9202-B368-B098D5B9F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9238"/>
            <a:ext cx="10515600" cy="483711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 err="1">
                <a:latin typeface="Arial Black" panose="020B0A04020102020204" pitchFamily="34" charset="0"/>
              </a:rPr>
              <a:t>TaskBoard</a:t>
            </a:r>
            <a:r>
              <a:rPr lang="ru-RU" dirty="0">
                <a:latin typeface="Arial Narrow" panose="020B0606020202030204" pitchFamily="34" charset="0"/>
              </a:rPr>
              <a:t> — проекты, задачи, обсуждения и отчёты в одном окне.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Arial Narrow" panose="020B0606020202030204" pitchFamily="34" charset="0"/>
              </a:rPr>
              <a:t>Одна система вместо чатов и таблиц.</a:t>
            </a:r>
            <a:endParaRPr lang="en-US" dirty="0">
              <a:latin typeface="Arial Narrow" panose="020B0606020202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Arial Black" panose="020B0A04020102020204" pitchFamily="34" charset="0"/>
              </a:rPr>
              <a:t>Актуальность:</a:t>
            </a:r>
            <a:endParaRPr lang="en-US" dirty="0">
              <a:latin typeface="Arial Black" panose="020B0A040201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ru-RU" sz="2800" dirty="0">
                <a:latin typeface="Arial Narrow" panose="020B0606020202030204" pitchFamily="34" charset="0"/>
              </a:rPr>
              <a:t>Теряется история по задаче;</a:t>
            </a:r>
            <a:endParaRPr lang="en-US" sz="2800" dirty="0">
              <a:latin typeface="Arial Narrow" panose="020B0606020202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ru-RU" sz="2800" dirty="0">
                <a:latin typeface="Arial Narrow" panose="020B0606020202030204" pitchFamily="34" charset="0"/>
              </a:rPr>
              <a:t>Руководителю сложно быстро увидеть загрузку и статусы;</a:t>
            </a:r>
            <a:endParaRPr lang="en-US" sz="2800" dirty="0">
              <a:latin typeface="Arial Narrow" panose="020B0606020202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ru-RU" sz="2800" dirty="0">
                <a:latin typeface="Arial Narrow" panose="020B0606020202030204" pitchFamily="34" charset="0"/>
              </a:rPr>
              <a:t>Не всем подходит хранение данных в чужом облаке.</a:t>
            </a:r>
            <a:endParaRPr lang="en-US" sz="2800" dirty="0">
              <a:latin typeface="Arial Narrow" panose="020B0606020202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Arial Black" panose="020B0A04020102020204" pitchFamily="34" charset="0"/>
              </a:rPr>
              <a:t>Цель: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ru-RU" dirty="0">
                <a:latin typeface="Arial Narrow" panose="020B0606020202030204" pitchFamily="34" charset="0"/>
              </a:rPr>
              <a:t>работоспособный прототип с проектами, задачами, файлами, уведомлениями и отчётом за период.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6236F65-86BE-C95C-BC4F-D2128DD94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2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697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F7079687-B44B-429F-D1C9-FD715627CE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8" name="Номер слайда 8">
            <a:extLst>
              <a:ext uri="{FF2B5EF4-FFF2-40B4-BE49-F238E27FC236}">
                <a16:creationId xmlns:a16="http://schemas.microsoft.com/office/drawing/2014/main" id="{05511F64-2BFB-9C7E-10B5-A242E3B46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3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55E3E30-EAA8-DC86-BF7D-98F0B3E7F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70C0"/>
                </a:solidFill>
                <a:latin typeface="Impact" panose="020B0806030902050204" pitchFamily="34" charset="0"/>
              </a:rPr>
              <a:t>Задачи работы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8AD5140B-5F85-B883-2C53-4E209068F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26721"/>
            <a:ext cx="10575471" cy="4710793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latin typeface="Arial Narrow" panose="020B0606020202030204" pitchFamily="34" charset="0"/>
              </a:rPr>
              <a:t>Сформулировать требования и выбрать микросервисную декомпозицию.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latin typeface="Arial Narrow" panose="020B0606020202030204" pitchFamily="34" charset="0"/>
              </a:rPr>
              <a:t>Спроектировать модели данных и REST-обмен.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latin typeface="Arial Narrow" panose="020B0606020202030204" pitchFamily="34" charset="0"/>
              </a:rPr>
              <a:t>Реализовать </a:t>
            </a:r>
            <a:r>
              <a:rPr lang="ru-RU" dirty="0" err="1">
                <a:latin typeface="Arial Narrow" panose="020B0606020202030204" pitchFamily="34" charset="0"/>
              </a:rPr>
              <a:t>backend</a:t>
            </a:r>
            <a:r>
              <a:rPr lang="ru-RU" dirty="0">
                <a:latin typeface="Arial Narrow" panose="020B0606020202030204" pitchFamily="34" charset="0"/>
              </a:rPr>
              <a:t>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latin typeface="Arial Narrow" panose="020B0606020202030204" pitchFamily="34" charset="0"/>
              </a:rPr>
              <a:t>Реализовать веб-клиент.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latin typeface="Arial Narrow" panose="020B0606020202030204" pitchFamily="34" charset="0"/>
              </a:rPr>
              <a:t>Подготовить развёртывание и </a:t>
            </a:r>
            <a:r>
              <a:rPr lang="ru-RU" dirty="0" err="1">
                <a:latin typeface="Arial Narrow" panose="020B0606020202030204" pitchFamily="34" charset="0"/>
              </a:rPr>
              <a:t>автотесты</a:t>
            </a:r>
            <a:r>
              <a:rPr lang="ru-RU" dirty="0">
                <a:latin typeface="Arial Narrow" panose="020B0606020202030204" pitchFamily="34" charset="0"/>
              </a:rPr>
              <a:t> с </a:t>
            </a:r>
            <a:r>
              <a:rPr lang="en-US" dirty="0">
                <a:latin typeface="Arial Narrow" panose="020B0606020202030204" pitchFamily="34" charset="0"/>
              </a:rPr>
              <a:t>CI</a:t>
            </a:r>
            <a:r>
              <a:rPr lang="ru-RU" dirty="0">
                <a:latin typeface="Arial Narrow" panose="020B0606020202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5547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0E700-612E-B785-C709-D33B0E0D5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EA74C21B-A944-4007-5672-88C101BDA2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7BB4C29-41E9-8A57-39E7-F271295DA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70C0"/>
                </a:solidFill>
                <a:latin typeface="Impact" panose="020B0806030902050204" pitchFamily="34" charset="0"/>
              </a:rPr>
              <a:t>Сравнение с аналогами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4E19B57-0778-4EE2-3872-FDA138514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4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5" name="Объект 9">
            <a:extLst>
              <a:ext uri="{FF2B5EF4-FFF2-40B4-BE49-F238E27FC236}">
                <a16:creationId xmlns:a16="http://schemas.microsoft.com/office/drawing/2014/main" id="{55D59D26-0367-417F-FF07-ED365186E5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4275768"/>
              </p:ext>
            </p:extLst>
          </p:nvPr>
        </p:nvGraphicFramePr>
        <p:xfrm>
          <a:off x="838201" y="1690688"/>
          <a:ext cx="10386061" cy="25351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95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0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3475413122"/>
                    </a:ext>
                  </a:extLst>
                </a:gridCol>
                <a:gridCol w="3099164">
                  <a:extLst>
                    <a:ext uri="{9D8B030D-6E8A-4147-A177-3AD203B41FA5}">
                      <a16:colId xmlns:a16="http://schemas.microsoft.com/office/drawing/2014/main" val="4117031387"/>
                    </a:ext>
                  </a:extLst>
                </a:gridCol>
              </a:tblGrid>
              <a:tr h="35886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Критерий 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Jira</a:t>
                      </a:r>
                      <a:endParaRPr lang="ru-RU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Trello</a:t>
                      </a:r>
                      <a:endParaRPr lang="ru-RU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Битрикс24</a:t>
                      </a:r>
                      <a:endParaRPr lang="ru-RU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97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Назначение 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Задачи </a:t>
                      </a:r>
                      <a:r>
                        <a:rPr lang="en-US" sz="1800" dirty="0">
                          <a:effectLst/>
                        </a:rPr>
                        <a:t>IT-</a:t>
                      </a:r>
                      <a:r>
                        <a:rPr lang="ru-RU" sz="1800" dirty="0">
                          <a:effectLst/>
                        </a:rPr>
                        <a:t>команд, процессы</a:t>
                      </a:r>
                      <a:endParaRPr lang="ru-RU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Доски, быстрый старт</a:t>
                      </a:r>
                      <a:endParaRPr lang="ru-RU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Портал: задачи, </a:t>
                      </a:r>
                      <a:r>
                        <a:rPr lang="en-US" sz="18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CRM, </a:t>
                      </a:r>
                      <a:r>
                        <a:rPr lang="ru-RU" sz="18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чаты </a:t>
                      </a:r>
                      <a:endParaRPr lang="ru-RU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86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Где данные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Облако поставщика</a:t>
                      </a:r>
                      <a:endParaRPr lang="ru-RU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Облако поставщика </a:t>
                      </a:r>
                      <a:endParaRPr lang="ru-RU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Облако или коробка </a:t>
                      </a:r>
                      <a:endParaRPr lang="ru-RU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86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Для кого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Команды разработчиков</a:t>
                      </a:r>
                      <a:endParaRPr lang="ru-RU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Малые команды </a:t>
                      </a:r>
                      <a:endParaRPr lang="ru-RU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Организации «всё в одном» </a:t>
                      </a:r>
                      <a:endParaRPr lang="ru-RU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86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/>
                        <a:t>Отчёты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Развитые</a:t>
                      </a:r>
                      <a:endParaRPr lang="ru-RU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/>
                        <a:t>Базовые </a:t>
                      </a:r>
                      <a:endParaRPr lang="ru-RU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Развитые</a:t>
                      </a:r>
                      <a:endParaRPr lang="ru-RU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2100998"/>
                  </a:ext>
                </a:extLst>
              </a:tr>
              <a:tr h="35886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Стоимость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Платная подписка </a:t>
                      </a:r>
                      <a:endParaRPr lang="ru-RU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Freemium / </a:t>
                      </a:r>
                      <a:r>
                        <a:rPr lang="ru-RU" sz="18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платно </a:t>
                      </a:r>
                      <a:endParaRPr lang="ru-RU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Подписка, тарифы</a:t>
                      </a:r>
                      <a:endParaRPr lang="ru-RU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2386986"/>
                  </a:ext>
                </a:extLst>
              </a:tr>
              <a:tr h="35886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Свои правила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В рамках продукта </a:t>
                      </a:r>
                      <a:endParaRPr lang="ru-RU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Ограниченно </a:t>
                      </a:r>
                      <a:endParaRPr lang="ru-RU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Частично, тяжёлый контур </a:t>
                      </a:r>
                      <a:endParaRPr lang="ru-RU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8078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422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DA68E-8023-BCEF-80BC-48400EAEC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265B9C81-A1A2-571A-3443-4600BF8761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34C7D92-58E5-C4E3-CFF1-D11597B3A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 err="1">
                <a:solidFill>
                  <a:srgbClr val="0070C0"/>
                </a:solidFill>
                <a:latin typeface="Impact" panose="020B0806030902050204" pitchFamily="34" charset="0"/>
              </a:rPr>
              <a:t>TaskBoard</a:t>
            </a:r>
            <a:r>
              <a:rPr lang="ru-RU" sz="4000" dirty="0">
                <a:solidFill>
                  <a:srgbClr val="0070C0"/>
                </a:solidFill>
                <a:latin typeface="Impact" panose="020B0806030902050204" pitchFamily="34" charset="0"/>
              </a:rPr>
              <a:t> — плюсы и минусы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5FAA62B-4C81-9B02-509A-623278F62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5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1D1461E1-D4FD-0FF7-D7A9-8EC92DD6C2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9748210"/>
              </p:ext>
            </p:extLst>
          </p:nvPr>
        </p:nvGraphicFramePr>
        <p:xfrm>
          <a:off x="838199" y="1595429"/>
          <a:ext cx="8754838" cy="28567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75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9272">
                  <a:extLst>
                    <a:ext uri="{9D8B030D-6E8A-4147-A177-3AD203B41FA5}">
                      <a16:colId xmlns:a16="http://schemas.microsoft.com/office/drawing/2014/main" val="3475413122"/>
                    </a:ext>
                  </a:extLst>
                </a:gridCol>
              </a:tblGrid>
              <a:tr h="4045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Плюсы</a:t>
                      </a:r>
                      <a:endParaRPr lang="ru-RU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Минусы</a:t>
                      </a:r>
                      <a:endParaRPr lang="ru-RU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5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Свои данные на сервере</a:t>
                      </a:r>
                      <a:endParaRPr lang="ru-RU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Нужна установка и сопровождение</a:t>
                      </a:r>
                      <a:endParaRPr lang="ru-RU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5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Всё в одном окне</a:t>
                      </a:r>
                      <a:endParaRPr lang="ru-RU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Меньше интеграций, чем у </a:t>
                      </a:r>
                      <a:r>
                        <a:rPr lang="ru-RU" sz="2000" dirty="0" err="1">
                          <a:effectLst/>
                          <a:latin typeface="+mn-lt"/>
                          <a:ea typeface="Calibri"/>
                          <a:cs typeface="Times New Roman"/>
                        </a:rPr>
                        <a:t>Jira</a:t>
                      </a:r>
                      <a:endParaRPr lang="ru-RU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5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Роли и участники проекта</a:t>
                      </a:r>
                      <a:endParaRPr lang="ru-RU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Сложнее, чем «доска» </a:t>
                      </a:r>
                      <a:r>
                        <a:rPr lang="ru-RU" sz="2000" dirty="0" err="1">
                          <a:effectLst/>
                        </a:rPr>
                        <a:t>Trello</a:t>
                      </a:r>
                      <a:endParaRPr lang="ru-RU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5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Можно дорабатывать под себя</a:t>
                      </a:r>
                      <a:endParaRPr lang="ru-RU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/>
                        <a:t>Не портал как Битрикс24</a:t>
                      </a:r>
                      <a:endParaRPr lang="ru-RU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2100998"/>
                  </a:ext>
                </a:extLst>
              </a:tr>
              <a:tr h="83424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База для корпоративной системы</a:t>
                      </a:r>
                      <a:endParaRPr lang="ru-RU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MVP: один сервер, без мобильного приложения</a:t>
                      </a:r>
                      <a:endParaRPr lang="ru-RU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012476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71DCBAD-611B-8366-4419-E481C06442A9}"/>
              </a:ext>
            </a:extLst>
          </p:cNvPr>
          <p:cNvSpPr txBox="1"/>
          <p:nvPr/>
        </p:nvSpPr>
        <p:spPr>
          <a:xfrm>
            <a:off x="838199" y="4778959"/>
            <a:ext cx="103860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 Black" panose="020B0A04020102020204" pitchFamily="34" charset="0"/>
              </a:rPr>
              <a:t>Для кого подходит: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Arial Narrow" panose="020B0606020202030204" pitchFamily="34" charset="0"/>
              </a:rPr>
              <a:t>малые команды разработчиков и учебные проектные группы</a:t>
            </a:r>
            <a:r>
              <a:rPr lang="en-US" sz="2400" dirty="0">
                <a:latin typeface="Arial Narrow" panose="020B0606020202030204" pitchFamily="34" charset="0"/>
              </a:rPr>
              <a:t>;</a:t>
            </a:r>
            <a:endParaRPr lang="ru-RU" sz="2400" dirty="0">
              <a:latin typeface="Arial Narrow" panose="020B0606020202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Arial Narrow" panose="020B0606020202030204" pitchFamily="34" charset="0"/>
              </a:rPr>
              <a:t>организации со своим сервером и своими регламентами</a:t>
            </a:r>
            <a:r>
              <a:rPr lang="en-US" sz="2400" dirty="0">
                <a:latin typeface="Arial Narrow" panose="020B0606020202030204" pitchFamily="34" charset="0"/>
              </a:rPr>
              <a:t>.</a:t>
            </a:r>
            <a:endParaRPr lang="ru-RU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251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91A3E-A448-9CAF-A4EF-7C6E29703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D10E3A97-AC3D-8A3E-4981-BB1ED43E62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C427A243-85C7-992A-D58D-DEDC8BF96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70C0"/>
                </a:solidFill>
                <a:latin typeface="Impact" panose="020B0806030902050204" pitchFamily="34" charset="0"/>
              </a:rPr>
              <a:t>Требования к системе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6A29D8EF-786B-245E-F759-6B6DCB3F6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4746171" cy="439229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Arial Black" panose="020B0A04020102020204" pitchFamily="34" charset="0"/>
              </a:rPr>
              <a:t>Функциональные: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Arial Narrow" panose="020B0606020202030204" pitchFamily="34" charset="0"/>
              </a:rPr>
              <a:t>• Учёт пользователей и ролей;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Arial Narrow" panose="020B0606020202030204" pitchFamily="34" charset="0"/>
              </a:rPr>
              <a:t>• Проекты и задачи;</a:t>
            </a:r>
          </a:p>
          <a:p>
            <a:pPr>
              <a:lnSpc>
                <a:spcPct val="100000"/>
              </a:lnSpc>
            </a:pPr>
            <a:r>
              <a:rPr lang="ru-RU" dirty="0">
                <a:latin typeface="Arial Narrow" panose="020B0606020202030204" pitchFamily="34" charset="0"/>
              </a:rPr>
              <a:t>Исполнитель только из участников проекта</a:t>
            </a:r>
            <a:r>
              <a:rPr lang="en-US" dirty="0">
                <a:latin typeface="Arial Narrow" panose="020B0606020202030204" pitchFamily="34" charset="0"/>
              </a:rPr>
              <a:t>;</a:t>
            </a:r>
            <a:endParaRPr lang="ru-RU" dirty="0">
              <a:latin typeface="Arial Narrow" panose="020B0606020202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Arial Narrow" panose="020B0606020202030204" pitchFamily="34" charset="0"/>
              </a:rPr>
              <a:t>• Комментарии, файлы, история;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Arial Narrow" panose="020B0606020202030204" pitchFamily="34" charset="0"/>
              </a:rPr>
              <a:t>• Уведомления и отчёты;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45056DE-E5E3-0CB6-157B-FFFCD56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6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E593E1-02EE-8D86-C19A-E5B64FD22717}"/>
              </a:ext>
            </a:extLst>
          </p:cNvPr>
          <p:cNvSpPr txBox="1"/>
          <p:nvPr/>
        </p:nvSpPr>
        <p:spPr>
          <a:xfrm>
            <a:off x="6483531" y="1690688"/>
            <a:ext cx="4923609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600" dirty="0">
                <a:latin typeface="Arial Black" panose="020B0A04020102020204" pitchFamily="34" charset="0"/>
              </a:rPr>
              <a:t>Нефункциональные: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latin typeface="Arial Narrow" panose="020B0606020202030204" pitchFamily="34" charset="0"/>
              </a:rPr>
              <a:t>Своё развёртывание;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latin typeface="Arial Narrow" panose="020B0606020202030204" pitchFamily="34" charset="0"/>
              </a:rPr>
              <a:t>Безопасность;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latin typeface="Arial Narrow" panose="020B0606020202030204" pitchFamily="34" charset="0"/>
              </a:rPr>
              <a:t>Журналы;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600" dirty="0" err="1">
                <a:latin typeface="Arial Narrow" panose="020B0606020202030204" pitchFamily="34" charset="0"/>
              </a:rPr>
              <a:t>Автотесты</a:t>
            </a:r>
            <a:r>
              <a:rPr lang="ru-RU" sz="2600" dirty="0">
                <a:latin typeface="Arial Narrow" panose="020B0606020202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533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421AB-75A2-346A-008F-B8DAC53B3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6305330E-9595-46BC-A006-409D131E05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E5A7450-32C0-709E-54F1-E5DC68F14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70C0"/>
                </a:solidFill>
                <a:latin typeface="Impact" panose="020B0806030902050204" pitchFamily="34" charset="0"/>
              </a:rPr>
              <a:t>Критерии приёмки прототипа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4368C55F-353B-C4C5-CFEC-24578DCA6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92295"/>
          </a:xfrm>
        </p:spPr>
        <p:txBody>
          <a:bodyPr>
            <a:normAutofit lnSpcReduction="10000"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latin typeface="Arial Narrow" panose="020B0606020202030204" pitchFamily="34" charset="0"/>
              </a:rPr>
              <a:t>Регистрация, вход, профиль, смена пароля; JWT.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latin typeface="Arial Narrow" panose="020B0606020202030204" pitchFamily="34" charset="0"/>
              </a:rPr>
              <a:t>Проекты и участники; задачи с фильтрами.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latin typeface="Arial Narrow" panose="020B0606020202030204" pitchFamily="34" charset="0"/>
              </a:rPr>
              <a:t>Ошибка при назначении исполнителя вне проекта.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latin typeface="Arial Narrow" panose="020B0606020202030204" pitchFamily="34" charset="0"/>
              </a:rPr>
              <a:t>Вложения: загрузка, просмотр, скачивание, удаление.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latin typeface="Arial Narrow" panose="020B0606020202030204" pitchFamily="34" charset="0"/>
              </a:rPr>
              <a:t>Комментарии и история изменений задачи.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latin typeface="Arial Narrow" panose="020B0606020202030204" pitchFamily="34" charset="0"/>
              </a:rPr>
              <a:t>Уведомления; нельзя читать чужие.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latin typeface="Arial Narrow" panose="020B0606020202030204" pitchFamily="34" charset="0"/>
              </a:rPr>
              <a:t>Отчёт за период и выгрузка CSV.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latin typeface="Arial Narrow" panose="020B0606020202030204" pitchFamily="34" charset="0"/>
              </a:rPr>
              <a:t>Подъём стенда по инструкции; тесты в CI проходят.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2588D22-DA34-AA8E-20B3-41E8B15F9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7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680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B63C4-E8AB-A56A-7BFB-A15CCD56C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02472246-EB45-D8F2-50F7-188D608C4F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D022988-F1D8-4132-1417-D8D495759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970" y="18028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5400" dirty="0">
                <a:solidFill>
                  <a:srgbClr val="0070C0"/>
                </a:solidFill>
                <a:latin typeface="Impact" panose="020B0806030902050204" pitchFamily="34" charset="0"/>
              </a:rPr>
              <a:t>Демонстрация интерфейса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DEF74E2-DE80-416C-D0F8-11CCB3903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8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8E4E69-5F8A-BA1B-872E-D73CD8E9050B}"/>
              </a:ext>
            </a:extLst>
          </p:cNvPr>
          <p:cNvSpPr txBox="1"/>
          <p:nvPr/>
        </p:nvSpPr>
        <p:spPr>
          <a:xfrm>
            <a:off x="2642983" y="2905780"/>
            <a:ext cx="70355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Работающий прототип </a:t>
            </a:r>
            <a:r>
              <a:rPr lang="ru-RU" sz="2800" dirty="0" err="1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TaskBoard</a:t>
            </a:r>
            <a:endParaRPr lang="ru-RU" sz="2800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844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8D0FF-AC6C-3A47-3DA8-E916EF5AA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95348D12-021D-336F-80CC-7D12E64878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552FEC8D-C09A-4F51-038A-CB6E45AFE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39268"/>
            <a:ext cx="10515600" cy="365126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2000" dirty="0">
                <a:latin typeface="Arial Narrow" panose="020B0606020202030204" pitchFamily="34" charset="0"/>
              </a:rPr>
              <a:t>Главная после входа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24A215B-5C9C-9710-A376-323B02D9D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9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C476B8F-11AB-55E2-DE87-D17298BC5C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897" y="674039"/>
            <a:ext cx="9576205" cy="526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605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ACC1F-B264-268C-19EE-5F400ECB9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E969032D-4BAB-AE63-DA2C-1F77EA38DB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F1273EA3-6C19-5BE8-23E9-968498078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39268"/>
            <a:ext cx="10515600" cy="365126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2000" dirty="0">
                <a:latin typeface="Arial Narrow" panose="020B0606020202030204" pitchFamily="34" charset="0"/>
              </a:rPr>
              <a:t>Проекты и задачи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F2A37FE-F7ED-0F57-69F7-C5456FB7B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10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4469CC6-8B4B-A1A7-60C5-4988286871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108" y="674039"/>
            <a:ext cx="9589994" cy="526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686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8AE1E-57C1-1DB1-FAF1-31D753B3A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1777F6C6-82CD-2968-B98F-659368EFBE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216A3DA5-09A7-A4A3-D135-FEAAFF504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39268"/>
            <a:ext cx="10515600" cy="365126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2000" dirty="0">
                <a:latin typeface="Arial Narrow" panose="020B0606020202030204" pitchFamily="34" charset="0"/>
              </a:rPr>
              <a:t>Карточка задачи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9958001-C43D-7C9E-D161-719AA2A77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11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954F6D-A796-856F-2E14-B0F92F3FD1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896" y="674039"/>
            <a:ext cx="9576206" cy="526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197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34005-7196-B959-BCBD-F3004DA5D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F42B319B-2D78-4DB5-99A1-567D8DEC26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BC918CDB-13F5-8D46-BBD6-B746DF98E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39268"/>
            <a:ext cx="10515600" cy="365126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2000" dirty="0">
                <a:latin typeface="Arial Narrow" panose="020B0606020202030204" pitchFamily="34" charset="0"/>
              </a:rPr>
              <a:t>Уведомления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9C0FE65-81BC-296D-74C0-3D686641E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12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9F814F-BE4C-A49A-2AFA-C75782F23E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699" y="674039"/>
            <a:ext cx="9569403" cy="526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757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A46C2-2465-D90F-8899-22D184BAB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277C8A96-93DD-E454-A3BD-7E2769E185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5346E555-D062-7516-1337-0DE9E3378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39268"/>
            <a:ext cx="10515600" cy="365126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2000" dirty="0">
                <a:latin typeface="Arial Narrow" panose="020B0606020202030204" pitchFamily="34" charset="0"/>
              </a:rPr>
              <a:t>Аналитика и отчёт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2E57486-0753-7D87-3AE3-49AD5A803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13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237803-300D-BF0E-8088-36437900E0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086" y="674039"/>
            <a:ext cx="3910235" cy="526522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FF7758C-329B-A6A0-B0CC-7B41EDDB74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481" y="674039"/>
            <a:ext cx="3907433" cy="526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583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01626-0706-3F0B-71BF-16DBB62F7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62924DAC-4B1F-8038-C566-7BE3437584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CFB122B-4A68-386B-234C-474AFC79F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70C0"/>
                </a:solidFill>
                <a:latin typeface="Impact" panose="020B0806030902050204" pitchFamily="34" charset="0"/>
              </a:rPr>
              <a:t>Архитектура решения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3CD1EB5-7A17-C11A-71B2-E8D3E658C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14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80F1682-24C5-48EF-8CB7-76BB19F615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800" y="1258348"/>
            <a:ext cx="7191940" cy="515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868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4A393-1EB2-BA03-9DC6-FBC822FCD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8A285A61-B0B4-308A-DF36-1063C4EB10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B2BE364-AAB2-F213-2796-930F374CD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70C0"/>
                </a:solidFill>
                <a:latin typeface="Impact" panose="020B0806030902050204" pitchFamily="34" charset="0"/>
              </a:rPr>
              <a:t>Стек технологий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0ED8452-75B9-AA8F-052D-A5F93A45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15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1C9FD0-3F91-3883-ED00-D89A7F11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7322" y="1920623"/>
            <a:ext cx="2535357" cy="5533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Arial Black" panose="020B0A04020102020204" pitchFamily="34" charset="0"/>
              </a:rPr>
              <a:t>Spring Boot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8D673A62-9E00-B602-C3C5-66BC0A05ABC5}"/>
              </a:ext>
            </a:extLst>
          </p:cNvPr>
          <p:cNvSpPr txBox="1">
            <a:spLocks/>
          </p:cNvSpPr>
          <p:nvPr/>
        </p:nvSpPr>
        <p:spPr>
          <a:xfrm>
            <a:off x="838200" y="1916426"/>
            <a:ext cx="1171669" cy="5533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Arial Black" panose="020B0A04020102020204" pitchFamily="34" charset="0"/>
              </a:rPr>
              <a:t>Java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3F8600A5-216C-4903-D1FF-1B1187312C0D}"/>
              </a:ext>
            </a:extLst>
          </p:cNvPr>
          <p:cNvSpPr txBox="1">
            <a:spLocks/>
          </p:cNvSpPr>
          <p:nvPr/>
        </p:nvSpPr>
        <p:spPr>
          <a:xfrm>
            <a:off x="4168859" y="3533007"/>
            <a:ext cx="2535357" cy="5533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Arial Black" panose="020B0A04020102020204" pitchFamily="34" charset="0"/>
              </a:rPr>
              <a:t>PostgreSQL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FCA7A1D7-EA58-8E0B-3E24-5294DC42BF13}"/>
              </a:ext>
            </a:extLst>
          </p:cNvPr>
          <p:cNvSpPr txBox="1">
            <a:spLocks/>
          </p:cNvSpPr>
          <p:nvPr/>
        </p:nvSpPr>
        <p:spPr>
          <a:xfrm>
            <a:off x="7923013" y="1914166"/>
            <a:ext cx="1341892" cy="5533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Arial Black" panose="020B0A04020102020204" pitchFamily="34" charset="0"/>
              </a:rPr>
              <a:t>React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25CC88F7-DE72-AF19-B84F-CC8F12065E28}"/>
              </a:ext>
            </a:extLst>
          </p:cNvPr>
          <p:cNvSpPr txBox="1">
            <a:spLocks/>
          </p:cNvSpPr>
          <p:nvPr/>
        </p:nvSpPr>
        <p:spPr>
          <a:xfrm>
            <a:off x="8169286" y="3532978"/>
            <a:ext cx="1427135" cy="5533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>
                <a:latin typeface="Arial Black" panose="020B0A04020102020204" pitchFamily="34" charset="0"/>
              </a:rPr>
              <a:t>MinIO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59C408A2-272D-C542-12F8-CE59FEC8FBBA}"/>
              </a:ext>
            </a:extLst>
          </p:cNvPr>
          <p:cNvSpPr txBox="1">
            <a:spLocks/>
          </p:cNvSpPr>
          <p:nvPr/>
        </p:nvSpPr>
        <p:spPr>
          <a:xfrm>
            <a:off x="838200" y="3533007"/>
            <a:ext cx="1622881" cy="5533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Arial Black" panose="020B0A04020102020204" pitchFamily="34" charset="0"/>
              </a:rPr>
              <a:t>Docker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7A668B-B00E-FF3D-EBEE-63FC053F82C2}"/>
              </a:ext>
            </a:extLst>
          </p:cNvPr>
          <p:cNvSpPr txBox="1"/>
          <p:nvPr/>
        </p:nvSpPr>
        <p:spPr>
          <a:xfrm>
            <a:off x="748413" y="4692711"/>
            <a:ext cx="72362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latin typeface="Arial Narrow" panose="020B0606020202030204" pitchFamily="34" charset="0"/>
              </a:rPr>
              <a:t>Также </a:t>
            </a:r>
            <a:r>
              <a:rPr lang="en-US" sz="2800" dirty="0" err="1">
                <a:latin typeface="Arial Narrow" panose="020B0606020202030204" pitchFamily="34" charset="0"/>
              </a:rPr>
              <a:t>Vitest</a:t>
            </a:r>
            <a:r>
              <a:rPr lang="en-US" sz="2800" dirty="0">
                <a:latin typeface="Arial Narrow" panose="020B0606020202030204" pitchFamily="34" charset="0"/>
              </a:rPr>
              <a:t>, Playwright, GitHub Actions (</a:t>
            </a:r>
            <a:r>
              <a:rPr lang="ru-RU" sz="2800" dirty="0">
                <a:latin typeface="Arial Narrow" panose="020B0606020202030204" pitchFamily="34" charset="0"/>
              </a:rPr>
              <a:t>тесты и </a:t>
            </a:r>
            <a:r>
              <a:rPr lang="en-US" sz="2800" dirty="0">
                <a:latin typeface="Arial Narrow" panose="020B0606020202030204" pitchFamily="34" charset="0"/>
              </a:rPr>
              <a:t>CI).</a:t>
            </a:r>
            <a:endParaRPr lang="ru-RU" sz="2800" dirty="0">
              <a:latin typeface="Arial Narrow" panose="020B0606020202030204" pitchFamily="34" charset="0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5DEAFCF-B781-C069-05DA-61E26C9814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0876" y="3325022"/>
            <a:ext cx="979866" cy="979866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ECE7614-A5F2-45F3-CA4F-2C6F640F15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854" y="3318647"/>
            <a:ext cx="952110" cy="982084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C4DAD02-C0A4-C1AF-D00D-88654F7AD6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81" y="1622222"/>
            <a:ext cx="1103657" cy="982083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4D35343A-97DF-12BE-9521-6E65E62DCA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323" y="1622005"/>
            <a:ext cx="982851" cy="982083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428E3F7D-1C9B-6536-1A47-36F55D8FDD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622" y="3312567"/>
            <a:ext cx="994245" cy="99424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144ADE4C-E6F3-9765-E675-871DB11F87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362" y="1294629"/>
            <a:ext cx="1433999" cy="143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365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58E38-84EC-C04F-1676-6BE21675F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99075065-A09B-A10C-6C91-FCF20A2071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DE25777-1811-2500-0E9A-7AA343A8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70C0"/>
                </a:solidFill>
                <a:latin typeface="Impact" panose="020B0806030902050204" pitchFamily="34" charset="0"/>
              </a:rPr>
              <a:t>Схема данных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31CE47C0-98EF-09EC-01AC-14D025400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7288"/>
            <a:ext cx="10515600" cy="62434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Arial Black" panose="020B0A04020102020204" pitchFamily="34" charset="0"/>
              </a:rPr>
              <a:t>Учётные записи</a:t>
            </a:r>
            <a:endParaRPr lang="ru-RU" dirty="0">
              <a:latin typeface="Arial Narrow" panose="020B0606020202030204" pitchFamily="34" charset="0"/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83C3176-85F8-4180-53D9-C614618BB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16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2AD2FCD-CF31-81AF-F79B-3E1C4AD146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4654" y="2064048"/>
            <a:ext cx="4882691" cy="37092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8B4E31-4548-5555-829B-96EDCA7CBCD1}"/>
              </a:ext>
            </a:extLst>
          </p:cNvPr>
          <p:cNvSpPr txBox="1"/>
          <p:nvPr/>
        </p:nvSpPr>
        <p:spPr>
          <a:xfrm>
            <a:off x="3747283" y="5825671"/>
            <a:ext cx="4697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Arial Narrow" panose="020B0606020202030204" pitchFamily="34" charset="0"/>
              </a:rPr>
              <a:t>Пользователи и роли</a:t>
            </a:r>
          </a:p>
        </p:txBody>
      </p:sp>
    </p:spTree>
    <p:extLst>
      <p:ext uri="{BB962C8B-B14F-4D97-AF65-F5344CB8AC3E}">
        <p14:creationId xmlns:p14="http://schemas.microsoft.com/office/powerpoint/2010/main" val="1162308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88821-41CD-5840-2F10-07B524B26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446F09C8-FFE8-48BA-B07A-14E7D4D7F9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566D1D0C-3279-129C-06CF-8E886F053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70C0"/>
                </a:solidFill>
                <a:latin typeface="Impact" panose="020B0806030902050204" pitchFamily="34" charset="0"/>
              </a:rPr>
              <a:t>Схема данных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F0E3AA4-F785-5704-B610-766AEDD9F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7288"/>
            <a:ext cx="10515600" cy="62434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Arial Black" panose="020B0A04020102020204" pitchFamily="34" charset="0"/>
              </a:rPr>
              <a:t>Проекты и задачи</a:t>
            </a:r>
            <a:endParaRPr lang="ru-RU" dirty="0">
              <a:latin typeface="Arial Narrow" panose="020B0606020202030204" pitchFamily="34" charset="0"/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ADF9A56-FF38-AAF4-C169-468F74E9B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17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A152C5-4646-95FC-EC88-416903E95B8B}"/>
              </a:ext>
            </a:extLst>
          </p:cNvPr>
          <p:cNvSpPr txBox="1"/>
          <p:nvPr/>
        </p:nvSpPr>
        <p:spPr>
          <a:xfrm>
            <a:off x="838200" y="1898699"/>
            <a:ext cx="48959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Arial Narrow" panose="020B0606020202030204" pitchFamily="34" charset="0"/>
              </a:rPr>
              <a:t>Проекты, участники, задачи, комментарии, вложения, история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5A856E-8D76-DB6A-E114-AB1AC6DCF9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363" y="807720"/>
            <a:ext cx="5498104" cy="542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520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56BAF-495C-E926-4C0E-49EF6F4C0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A31A63B7-D2D2-45F5-8F5E-869FBE5C17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B0D4095-6A78-E56E-4C7B-528CBA70D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70C0"/>
                </a:solidFill>
                <a:latin typeface="Impact" panose="020B0806030902050204" pitchFamily="34" charset="0"/>
              </a:rPr>
              <a:t>Схема данных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3C7F7B87-8B4F-7B6A-5F73-9FF310598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7288"/>
            <a:ext cx="10515600" cy="62434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Arial Black" panose="020B0A04020102020204" pitchFamily="34" charset="0"/>
              </a:rPr>
              <a:t>Уведомления и отчёты</a:t>
            </a:r>
            <a:endParaRPr lang="ru-RU" dirty="0">
              <a:latin typeface="Arial Narrow" panose="020B0606020202030204" pitchFamily="34" charset="0"/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8092BD9-9B15-66C2-4CDA-F3ACBCE6B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18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7C55A8-313F-4A71-0B80-D79EF1ED0CB6}"/>
              </a:ext>
            </a:extLst>
          </p:cNvPr>
          <p:cNvSpPr txBox="1"/>
          <p:nvPr/>
        </p:nvSpPr>
        <p:spPr>
          <a:xfrm>
            <a:off x="3149600" y="5825671"/>
            <a:ext cx="58855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Arial Narrow" panose="020B0606020202030204" pitchFamily="34" charset="0"/>
              </a:rPr>
              <a:t>Уведомления и отчёты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97845FC-D642-438B-B8D8-72A6F99B54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485" y="2011629"/>
            <a:ext cx="4925030" cy="373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095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1C9FB-1790-E303-650A-5478DECC9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A3DAF67A-E626-5C06-E6A4-2554F49704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1300A2E-A450-A2B8-FCE8-BCC931120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70C0"/>
                </a:solidFill>
                <a:latin typeface="Impact" panose="020B0806030902050204" pitchFamily="34" charset="0"/>
              </a:rPr>
              <a:t>Тестирование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46429175-9BF0-051E-6B39-EFD8938D4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9229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Arial Black" panose="020B0A04020102020204" pitchFamily="34" charset="0"/>
              </a:rPr>
              <a:t>Проверялось: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latin typeface="Arial Narrow" panose="020B0606020202030204" pitchFamily="34" charset="0"/>
              </a:rPr>
              <a:t>Backend </a:t>
            </a:r>
            <a:r>
              <a:rPr lang="ru-RU" sz="2800" dirty="0">
                <a:latin typeface="Arial Narrow" panose="020B0606020202030204" pitchFamily="34" charset="0"/>
              </a:rPr>
              <a:t>и клиент (</a:t>
            </a:r>
            <a:r>
              <a:rPr lang="en-US" sz="2800" dirty="0" err="1">
                <a:latin typeface="Arial Narrow" panose="020B0606020202030204" pitchFamily="34" charset="0"/>
              </a:rPr>
              <a:t>Vitest</a:t>
            </a:r>
            <a:r>
              <a:rPr lang="en-US" sz="2800" dirty="0">
                <a:latin typeface="Arial Narrow" panose="020B0606020202030204" pitchFamily="34" charset="0"/>
              </a:rPr>
              <a:t>)</a:t>
            </a:r>
            <a:r>
              <a:rPr lang="ru-RU" sz="2800" dirty="0">
                <a:latin typeface="Arial Narrow" panose="020B0606020202030204" pitchFamily="34" charset="0"/>
              </a:rPr>
              <a:t>;</a:t>
            </a:r>
          </a:p>
          <a:p>
            <a:pPr lvl="1">
              <a:lnSpc>
                <a:spcPct val="100000"/>
              </a:lnSpc>
            </a:pPr>
            <a:r>
              <a:rPr lang="ru-RU" sz="2800" dirty="0">
                <a:latin typeface="Arial Narrow" panose="020B0606020202030204" pitchFamily="34" charset="0"/>
              </a:rPr>
              <a:t>Сквозные сценарии в браузере </a:t>
            </a:r>
            <a:r>
              <a:rPr lang="en-US" sz="2800" dirty="0">
                <a:latin typeface="Arial Narrow" panose="020B0606020202030204" pitchFamily="34" charset="0"/>
              </a:rPr>
              <a:t>(Playwright)</a:t>
            </a:r>
            <a:r>
              <a:rPr lang="ru-RU" sz="2800" dirty="0">
                <a:latin typeface="Arial Narrow" panose="020B0606020202030204" pitchFamily="34" charset="0"/>
              </a:rPr>
              <a:t>;</a:t>
            </a:r>
          </a:p>
          <a:p>
            <a:pPr lvl="1">
              <a:lnSpc>
                <a:spcPct val="100000"/>
              </a:lnSpc>
            </a:pPr>
            <a:r>
              <a:rPr lang="ru-RU" sz="2800" dirty="0">
                <a:latin typeface="Arial Narrow" panose="020B0606020202030204" pitchFamily="34" charset="0"/>
              </a:rPr>
              <a:t>Прогон в </a:t>
            </a:r>
            <a:r>
              <a:rPr lang="ru-RU" sz="2800" dirty="0" err="1">
                <a:latin typeface="Arial Narrow" panose="020B0606020202030204" pitchFamily="34" charset="0"/>
              </a:rPr>
              <a:t>GitHub</a:t>
            </a:r>
            <a:r>
              <a:rPr lang="ru-RU" sz="2800" dirty="0">
                <a:latin typeface="Arial Narrow" panose="020B0606020202030204" pitchFamily="34" charset="0"/>
              </a:rPr>
              <a:t> </a:t>
            </a:r>
            <a:r>
              <a:rPr lang="ru-RU" sz="2800" dirty="0" err="1">
                <a:latin typeface="Arial Narrow" panose="020B0606020202030204" pitchFamily="34" charset="0"/>
              </a:rPr>
              <a:t>Actions</a:t>
            </a:r>
            <a:r>
              <a:rPr lang="ru-RU" sz="2800" dirty="0">
                <a:latin typeface="Arial Narrow" panose="020B0606020202030204" pitchFamily="34" charset="0"/>
              </a:rPr>
              <a:t> при изменении кода.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Arial Black" panose="020B0A04020102020204" pitchFamily="34" charset="0"/>
              </a:rPr>
              <a:t>Итог:</a:t>
            </a:r>
          </a:p>
          <a:p>
            <a:pPr lvl="1">
              <a:lnSpc>
                <a:spcPct val="100000"/>
              </a:lnSpc>
            </a:pPr>
            <a:r>
              <a:rPr lang="ru-RU" sz="2800" dirty="0">
                <a:latin typeface="Arial Narrow" panose="020B0606020202030204" pitchFamily="34" charset="0"/>
              </a:rPr>
              <a:t>Основные сценарии проходят;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latin typeface="Arial Narrow" panose="020B0606020202030204" pitchFamily="34" charset="0"/>
              </a:rPr>
              <a:t>C</a:t>
            </a:r>
            <a:r>
              <a:rPr lang="ru-RU" sz="2800" dirty="0" err="1">
                <a:latin typeface="Arial Narrow" panose="020B0606020202030204" pitchFamily="34" charset="0"/>
              </a:rPr>
              <a:t>тенд</a:t>
            </a:r>
            <a:r>
              <a:rPr lang="ru-RU" sz="2800" dirty="0">
                <a:latin typeface="Arial Narrow" panose="020B0606020202030204" pitchFamily="34" charset="0"/>
              </a:rPr>
              <a:t> поднимается через </a:t>
            </a:r>
            <a:r>
              <a:rPr lang="ru-RU" sz="2800" dirty="0" err="1">
                <a:latin typeface="Arial Narrow" panose="020B0606020202030204" pitchFamily="34" charset="0"/>
              </a:rPr>
              <a:t>Docker</a:t>
            </a:r>
            <a:r>
              <a:rPr lang="ru-RU" sz="2800" dirty="0">
                <a:latin typeface="Arial Narrow" panose="020B0606020202030204" pitchFamily="34" charset="0"/>
              </a:rPr>
              <a:t> </a:t>
            </a:r>
            <a:r>
              <a:rPr lang="ru-RU" sz="2800" dirty="0" err="1">
                <a:latin typeface="Arial Narrow" panose="020B0606020202030204" pitchFamily="34" charset="0"/>
              </a:rPr>
              <a:t>Compose</a:t>
            </a:r>
            <a:r>
              <a:rPr lang="ru-RU" sz="2800" dirty="0">
                <a:latin typeface="Arial Narrow" panose="020B0606020202030204" pitchFamily="34" charset="0"/>
              </a:rPr>
              <a:t>.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C6C4981-B5E7-25B7-D132-66DC17555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19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556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5F374-691C-C2BC-41DA-84E2217D6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EDE3DE20-C992-0412-F5CB-EA333438BF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0A540F1-78A1-1742-D7CC-EFFD27C84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70C0"/>
                </a:solidFill>
                <a:latin typeface="Impact" panose="020B0806030902050204" pitchFamily="34" charset="0"/>
              </a:rPr>
              <a:t>Результаты работы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E1101EA-E2CD-348E-7CA6-9951AA1A3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20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AA517C-854B-62A5-4274-F8E877797035}"/>
              </a:ext>
            </a:extLst>
          </p:cNvPr>
          <p:cNvSpPr txBox="1"/>
          <p:nvPr/>
        </p:nvSpPr>
        <p:spPr>
          <a:xfrm>
            <a:off x="838200" y="1401147"/>
            <a:ext cx="105156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Arial Black" panose="020B0A04020102020204" pitchFamily="34" charset="0"/>
              </a:rPr>
              <a:t>Цель достигнута: </a:t>
            </a:r>
            <a:r>
              <a:rPr lang="ru-RU" sz="2600" dirty="0">
                <a:latin typeface="Arial Narrow" panose="020B0606020202030204" pitchFamily="34" charset="0"/>
              </a:rPr>
              <a:t>работоспособный прототип (MVP) </a:t>
            </a:r>
            <a:r>
              <a:rPr lang="ru-RU" sz="2600" dirty="0" err="1">
                <a:latin typeface="Arial Narrow" panose="020B0606020202030204" pitchFamily="34" charset="0"/>
              </a:rPr>
              <a:t>TaskBoard</a:t>
            </a:r>
            <a:r>
              <a:rPr lang="ru-RU" sz="2600" dirty="0">
                <a:latin typeface="Arial Narrow" panose="020B0606020202030204" pitchFamily="34" charset="0"/>
              </a:rPr>
              <a:t>.</a:t>
            </a:r>
          </a:p>
          <a:p>
            <a:endParaRPr lang="ru-RU" sz="2600" dirty="0">
              <a:latin typeface="Arial Narrow" panose="020B0606020202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600" dirty="0">
                <a:latin typeface="Arial Narrow" panose="020B0606020202030204" pitchFamily="34" charset="0"/>
              </a:rPr>
              <a:t>Сформулированы функциональные и нефункциональные требования;   выбрана микросервисная декомпозиция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>
                <a:latin typeface="Arial Narrow" panose="020B0606020202030204" pitchFamily="34" charset="0"/>
              </a:rPr>
              <a:t>Спроектированы модели данных и REST-обмен между компонентами.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>
                <a:latin typeface="Arial Narrow" panose="020B0606020202030204" pitchFamily="34" charset="0"/>
              </a:rPr>
              <a:t>Реализован </a:t>
            </a:r>
            <a:r>
              <a:rPr lang="ru-RU" sz="2600" dirty="0" err="1">
                <a:latin typeface="Arial Narrow" panose="020B0606020202030204" pitchFamily="34" charset="0"/>
              </a:rPr>
              <a:t>backend</a:t>
            </a:r>
            <a:r>
              <a:rPr lang="ru-RU" sz="2600" dirty="0">
                <a:latin typeface="Arial Narrow" panose="020B0606020202030204" pitchFamily="34" charset="0"/>
              </a:rPr>
              <a:t> на Java 17 и Spring Boot 3.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>
                <a:latin typeface="Arial Narrow" panose="020B0606020202030204" pitchFamily="34" charset="0"/>
              </a:rPr>
              <a:t>Реализован одностраничный веб-клиент на </a:t>
            </a:r>
            <a:r>
              <a:rPr lang="ru-RU" sz="2600" dirty="0" err="1">
                <a:latin typeface="Arial Narrow" panose="020B0606020202030204" pitchFamily="34" charset="0"/>
              </a:rPr>
              <a:t>React</a:t>
            </a:r>
            <a:r>
              <a:rPr lang="ru-RU" sz="2600" dirty="0">
                <a:latin typeface="Arial Narrow" panose="020B0606020202030204" pitchFamily="34" charset="0"/>
              </a:rPr>
              <a:t> 18 и </a:t>
            </a:r>
            <a:r>
              <a:rPr lang="ru-RU" sz="2600" dirty="0" err="1">
                <a:latin typeface="Arial Narrow" panose="020B0606020202030204" pitchFamily="34" charset="0"/>
              </a:rPr>
              <a:t>Vite</a:t>
            </a:r>
            <a:r>
              <a:rPr lang="ru-RU" sz="2600" dirty="0">
                <a:latin typeface="Arial Narrow" panose="020B0606020202030204" pitchFamily="34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>
                <a:latin typeface="Arial Narrow" panose="020B0606020202030204" pitchFamily="34" charset="0"/>
              </a:rPr>
              <a:t>Подготовлены </a:t>
            </a:r>
            <a:r>
              <a:rPr lang="ru-RU" sz="2600" dirty="0" err="1">
                <a:latin typeface="Arial Narrow" panose="020B0606020202030204" pitchFamily="34" charset="0"/>
              </a:rPr>
              <a:t>Docker</a:t>
            </a:r>
            <a:r>
              <a:rPr lang="ru-RU" sz="2600" dirty="0">
                <a:latin typeface="Arial Narrow" panose="020B0606020202030204" pitchFamily="34" charset="0"/>
              </a:rPr>
              <a:t> </a:t>
            </a:r>
            <a:r>
              <a:rPr lang="ru-RU" sz="2600" dirty="0" err="1">
                <a:latin typeface="Arial Narrow" panose="020B0606020202030204" pitchFamily="34" charset="0"/>
              </a:rPr>
              <a:t>Compose</a:t>
            </a:r>
            <a:r>
              <a:rPr lang="ru-RU" sz="2600" dirty="0">
                <a:latin typeface="Arial Narrow" panose="020B0606020202030204" pitchFamily="34" charset="0"/>
              </a:rPr>
              <a:t>, журналирование   и автоматизированное тестирование с CI.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97312B-95F9-D900-2665-5202EBD54F94}"/>
              </a:ext>
            </a:extLst>
          </p:cNvPr>
          <p:cNvSpPr txBox="1"/>
          <p:nvPr/>
        </p:nvSpPr>
        <p:spPr>
          <a:xfrm>
            <a:off x="838200" y="5494575"/>
            <a:ext cx="609463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Arial Narrow" panose="020B0606020202030204" pitchFamily="34" charset="0"/>
              </a:rPr>
              <a:t>Критерии приёмки выполнены.</a:t>
            </a:r>
          </a:p>
        </p:txBody>
      </p:sp>
    </p:spTree>
    <p:extLst>
      <p:ext uri="{BB962C8B-B14F-4D97-AF65-F5344CB8AC3E}">
        <p14:creationId xmlns:p14="http://schemas.microsoft.com/office/powerpoint/2010/main" val="2733884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AE12F-2514-90CE-7254-382B668AC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FA98438A-E949-ADFC-03B3-08B09AAD59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56DD8D3-ACA6-1BF8-FEB1-B446B9A53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70C0"/>
                </a:solidFill>
                <a:latin typeface="Impact" panose="020B0806030902050204" pitchFamily="34" charset="0"/>
              </a:rPr>
              <a:t>Источники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3838819-92D8-EBEF-32DE-0997AE5C3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21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0320EF3-9B6D-6882-A68B-12F6ACFC5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937" y="1693628"/>
            <a:ext cx="10526864" cy="4483335"/>
          </a:xfrm>
        </p:spPr>
        <p:txBody>
          <a:bodyPr/>
          <a:lstStyle/>
          <a:p>
            <a:pPr lvl="0"/>
            <a:r>
              <a:rPr lang="en-US" dirty="0">
                <a:latin typeface="Arial Narrow" panose="020B0606020202030204" pitchFamily="34" charset="0"/>
              </a:rPr>
              <a:t>Spring Boot</a:t>
            </a:r>
            <a:r>
              <a:rPr lang="ru-RU" dirty="0">
                <a:latin typeface="Arial Narrow" panose="020B0606020202030204" pitchFamily="34" charset="0"/>
              </a:rPr>
              <a:t> –</a:t>
            </a:r>
            <a:r>
              <a:rPr lang="en-US" dirty="0">
                <a:latin typeface="Arial Narrow" panose="020B0606020202030204" pitchFamily="34" charset="0"/>
              </a:rPr>
              <a:t>URL</a:t>
            </a:r>
            <a:r>
              <a:rPr lang="ru-RU" dirty="0">
                <a:latin typeface="Arial Narrow" panose="020B0606020202030204" pitchFamily="34" charset="0"/>
              </a:rPr>
              <a:t>: </a:t>
            </a:r>
            <a:r>
              <a:rPr lang="en-US" u="sng" dirty="0">
                <a:solidFill>
                  <a:srgbClr val="0070C0"/>
                </a:solidFill>
                <a:latin typeface="Arial Narrow" panose="020B0606020202030204" pitchFamily="34" charset="0"/>
                <a:hlinkClick r:id="rId3"/>
              </a:rPr>
              <a:t>https://spring.io/projects/spring-boot</a:t>
            </a:r>
            <a:r>
              <a:rPr lang="ru-RU" u="sng" dirty="0">
                <a:solidFill>
                  <a:srgbClr val="0070C0"/>
                </a:solidFill>
                <a:latin typeface="Arial Narrow" panose="020B0606020202030204" pitchFamily="34" charset="0"/>
              </a:rPr>
              <a:t> </a:t>
            </a:r>
            <a:r>
              <a:rPr lang="ru-RU" dirty="0">
                <a:latin typeface="Arial Narrow" panose="020B0606020202030204" pitchFamily="34" charset="0"/>
              </a:rPr>
              <a:t>(дата обращения 08.03.2026)</a:t>
            </a:r>
          </a:p>
          <a:p>
            <a:pPr lvl="0"/>
            <a:r>
              <a:rPr lang="en-US" dirty="0">
                <a:latin typeface="Arial Narrow" panose="020B0606020202030204" pitchFamily="34" charset="0"/>
              </a:rPr>
              <a:t>React</a:t>
            </a:r>
            <a:r>
              <a:rPr lang="ru-RU" dirty="0">
                <a:latin typeface="Arial Narrow" panose="020B0606020202030204" pitchFamily="34" charset="0"/>
              </a:rPr>
              <a:t> –</a:t>
            </a:r>
            <a:r>
              <a:rPr lang="en-US" dirty="0">
                <a:latin typeface="Arial Narrow" panose="020B0606020202030204" pitchFamily="34" charset="0"/>
              </a:rPr>
              <a:t>URL</a:t>
            </a:r>
            <a:r>
              <a:rPr lang="ru-RU" dirty="0">
                <a:latin typeface="Arial Narrow" panose="020B0606020202030204" pitchFamily="34" charset="0"/>
              </a:rPr>
              <a:t>: </a:t>
            </a:r>
            <a:r>
              <a:rPr lang="en-US" u="sng" dirty="0">
                <a:latin typeface="Arial Narrow" panose="020B0606020202030204" pitchFamily="34" charset="0"/>
                <a:hlinkClick r:id="rId4"/>
              </a:rPr>
              <a:t>https://react.dev/</a:t>
            </a:r>
            <a:r>
              <a:rPr lang="ru-RU" dirty="0">
                <a:latin typeface="Arial Narrow" panose="020B0606020202030204" pitchFamily="34" charset="0"/>
              </a:rPr>
              <a:t> (дата обращения 15.03.2026).</a:t>
            </a:r>
          </a:p>
          <a:p>
            <a:pPr lvl="0"/>
            <a:r>
              <a:rPr lang="ru-RU" dirty="0">
                <a:latin typeface="Arial Narrow" panose="020B0606020202030204" pitchFamily="34" charset="0"/>
              </a:rPr>
              <a:t>Документация </a:t>
            </a:r>
            <a:r>
              <a:rPr lang="en-US" dirty="0">
                <a:latin typeface="Arial Narrow" panose="020B0606020202030204" pitchFamily="34" charset="0"/>
              </a:rPr>
              <a:t>PostgreSQL</a:t>
            </a:r>
            <a:r>
              <a:rPr lang="ru-RU" dirty="0">
                <a:latin typeface="Arial Narrow" panose="020B0606020202030204" pitchFamily="34" charset="0"/>
              </a:rPr>
              <a:t> –</a:t>
            </a:r>
            <a:r>
              <a:rPr lang="en-US" dirty="0">
                <a:latin typeface="Arial Narrow" panose="020B0606020202030204" pitchFamily="34" charset="0"/>
              </a:rPr>
              <a:t>URL</a:t>
            </a:r>
            <a:r>
              <a:rPr lang="ru-RU" dirty="0">
                <a:latin typeface="Arial Narrow" panose="020B0606020202030204" pitchFamily="34" charset="0"/>
              </a:rPr>
              <a:t>: </a:t>
            </a:r>
            <a:r>
              <a:rPr lang="en-US" u="sng" dirty="0">
                <a:solidFill>
                  <a:srgbClr val="0070C0"/>
                </a:solidFill>
                <a:latin typeface="Arial Narrow" panose="020B0606020202030204" pitchFamily="34" charset="0"/>
                <a:hlinkClick r:id="rId5"/>
              </a:rPr>
              <a:t>https://www.postgresql.org/docs/</a:t>
            </a:r>
            <a:r>
              <a:rPr lang="ru-RU" u="sng" dirty="0">
                <a:solidFill>
                  <a:srgbClr val="0070C0"/>
                </a:solidFill>
                <a:latin typeface="Arial Narrow" panose="020B0606020202030204" pitchFamily="34" charset="0"/>
              </a:rPr>
              <a:t> </a:t>
            </a:r>
            <a:r>
              <a:rPr lang="ru-RU" dirty="0">
                <a:latin typeface="Arial Narrow" panose="020B0606020202030204" pitchFamily="34" charset="0"/>
              </a:rPr>
              <a:t>(дата обращения 25.03.2026).</a:t>
            </a:r>
          </a:p>
          <a:p>
            <a:pPr lvl="0"/>
            <a:r>
              <a:rPr lang="en-US" dirty="0">
                <a:latin typeface="Arial Narrow" panose="020B0606020202030204" pitchFamily="34" charset="0"/>
              </a:rPr>
              <a:t>Docker Docs</a:t>
            </a:r>
            <a:r>
              <a:rPr lang="ru-RU" dirty="0">
                <a:latin typeface="Arial Narrow" panose="020B0606020202030204" pitchFamily="34" charset="0"/>
              </a:rPr>
              <a:t> –</a:t>
            </a:r>
            <a:r>
              <a:rPr lang="en-US" dirty="0">
                <a:latin typeface="Arial Narrow" panose="020B0606020202030204" pitchFamily="34" charset="0"/>
              </a:rPr>
              <a:t>URL</a:t>
            </a:r>
            <a:r>
              <a:rPr lang="ru-RU" dirty="0">
                <a:latin typeface="Arial Narrow" panose="020B0606020202030204" pitchFamily="34" charset="0"/>
              </a:rPr>
              <a:t>: </a:t>
            </a:r>
            <a:r>
              <a:rPr lang="en-US" u="sng" dirty="0">
                <a:latin typeface="Arial Narrow" panose="020B0606020202030204" pitchFamily="34" charset="0"/>
                <a:hlinkClick r:id="rId6"/>
              </a:rPr>
              <a:t>https://docs.docker.com</a:t>
            </a:r>
            <a:r>
              <a:rPr lang="ru-RU" u="sng" dirty="0">
                <a:latin typeface="Arial Narrow" panose="020B0606020202030204" pitchFamily="34" charset="0"/>
                <a:hlinkClick r:id="rId6"/>
              </a:rPr>
              <a:t>/</a:t>
            </a:r>
            <a:r>
              <a:rPr lang="ru-RU" dirty="0">
                <a:latin typeface="Arial Narrow" panose="020B0606020202030204" pitchFamily="34" charset="0"/>
              </a:rPr>
              <a:t> (дата обращения 02.04.2026).</a:t>
            </a:r>
          </a:p>
          <a:p>
            <a:r>
              <a:rPr lang="en-US" dirty="0" err="1">
                <a:latin typeface="Arial Narrow" panose="020B0606020202030204" pitchFamily="34" charset="0"/>
              </a:rPr>
              <a:t>Vitest</a:t>
            </a:r>
            <a:r>
              <a:rPr lang="ru-RU" dirty="0">
                <a:latin typeface="Arial Narrow" panose="020B0606020202030204" pitchFamily="34" charset="0"/>
              </a:rPr>
              <a:t> –</a:t>
            </a:r>
            <a:r>
              <a:rPr lang="en-US" dirty="0">
                <a:latin typeface="Arial Narrow" panose="020B0606020202030204" pitchFamily="34" charset="0"/>
              </a:rPr>
              <a:t>URL</a:t>
            </a:r>
            <a:r>
              <a:rPr lang="ru-RU" dirty="0">
                <a:latin typeface="Arial Narrow" panose="020B0606020202030204" pitchFamily="34" charset="0"/>
              </a:rPr>
              <a:t>: </a:t>
            </a:r>
            <a:r>
              <a:rPr lang="en-US" u="sng" dirty="0">
                <a:latin typeface="Arial Narrow" panose="020B0606020202030204" pitchFamily="34" charset="0"/>
                <a:hlinkClick r:id="rId7"/>
              </a:rPr>
              <a:t>https://vitest.dev/ </a:t>
            </a:r>
            <a:r>
              <a:rPr lang="ru-RU" dirty="0">
                <a:latin typeface="Arial Narrow" panose="020B0606020202030204" pitchFamily="34" charset="0"/>
              </a:rPr>
              <a:t>(дата обращения 05.04.2026).</a:t>
            </a:r>
          </a:p>
        </p:txBody>
      </p:sp>
    </p:spTree>
    <p:extLst>
      <p:ext uri="{BB962C8B-B14F-4D97-AF65-F5344CB8AC3E}">
        <p14:creationId xmlns:p14="http://schemas.microsoft.com/office/powerpoint/2010/main" val="2317023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7F1F1-2A3F-F0CE-77CC-ED5CB7E77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85626209-C14C-6A7B-6C74-BAEE2EF5E6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E4F4D8F-D4A1-F7F3-7043-2ED503CA9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70C0"/>
                </a:solidFill>
                <a:latin typeface="Impact" panose="020B0806030902050204" pitchFamily="34" charset="0"/>
              </a:rPr>
              <a:t>Исходный код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62B0F23-175D-645C-5886-3F46A2120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22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92886EF6-28A1-DAA7-D211-2E0652428D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5561" y="1303782"/>
            <a:ext cx="4620878" cy="4620878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0070D2-AAC7-EC56-E555-1ED3234588E5}"/>
              </a:ext>
            </a:extLst>
          </p:cNvPr>
          <p:cNvSpPr txBox="1"/>
          <p:nvPr/>
        </p:nvSpPr>
        <p:spPr>
          <a:xfrm>
            <a:off x="3149600" y="5825671"/>
            <a:ext cx="58855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Arial Narrow" panose="020B0606020202030204" pitchFamily="34" charset="0"/>
              </a:rPr>
              <a:t>Код, документация, инструкция по запуску</a:t>
            </a:r>
          </a:p>
        </p:txBody>
      </p:sp>
    </p:spTree>
    <p:extLst>
      <p:ext uri="{BB962C8B-B14F-4D97-AF65-F5344CB8AC3E}">
        <p14:creationId xmlns:p14="http://schemas.microsoft.com/office/powerpoint/2010/main" val="263612542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1118</TotalTime>
  <Words>724</Words>
  <Application>Microsoft Office PowerPoint</Application>
  <PresentationFormat>Широкоэкранный</PresentationFormat>
  <Paragraphs>167</Paragraphs>
  <Slides>22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30" baseType="lpstr">
      <vt:lpstr>Arial</vt:lpstr>
      <vt:lpstr>Arial Black</vt:lpstr>
      <vt:lpstr>Arial Narrow</vt:lpstr>
      <vt:lpstr>Calibri</vt:lpstr>
      <vt:lpstr>Calibri Light</vt:lpstr>
      <vt:lpstr>Impact</vt:lpstr>
      <vt:lpstr>Times New Roman</vt:lpstr>
      <vt:lpstr>Тема Office</vt:lpstr>
      <vt:lpstr>Выпускная квалификационная работа бакалавра на тему: «Микросервисное веб-приложение для управления внутренними задачами, проектами и коммуникацией команды»</vt:lpstr>
      <vt:lpstr>Постановка и актуальность</vt:lpstr>
      <vt:lpstr>Задачи работы</vt:lpstr>
      <vt:lpstr>Сравнение с аналогами</vt:lpstr>
      <vt:lpstr>TaskBoard — плюсы и минусы</vt:lpstr>
      <vt:lpstr>Требования к системе</vt:lpstr>
      <vt:lpstr>Критерии приёмки прототипа</vt:lpstr>
      <vt:lpstr>Демонстрация интерфейса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Архитектура решения</vt:lpstr>
      <vt:lpstr>Стек технологий</vt:lpstr>
      <vt:lpstr>Схема данных</vt:lpstr>
      <vt:lpstr>Схема данных</vt:lpstr>
      <vt:lpstr>Схема данных</vt:lpstr>
      <vt:lpstr>Тестирование</vt:lpstr>
      <vt:lpstr>Результаты работы</vt:lpstr>
      <vt:lpstr>Источники</vt:lpstr>
      <vt:lpstr>Исходный код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Евгений Кострюков</dc:creator>
  <cp:lastModifiedBy>Евгений Кострюков</cp:lastModifiedBy>
  <cp:revision>80</cp:revision>
  <dcterms:created xsi:type="dcterms:W3CDTF">2026-05-16T16:47:43Z</dcterms:created>
  <dcterms:modified xsi:type="dcterms:W3CDTF">2026-05-21T16:27:38Z</dcterms:modified>
</cp:coreProperties>
</file>