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2" r:id="rId5"/>
    <p:sldId id="261" r:id="rId6"/>
    <p:sldId id="260" r:id="rId7"/>
    <p:sldId id="263" r:id="rId8"/>
    <p:sldId id="278" r:id="rId9"/>
    <p:sldId id="271" r:id="rId10"/>
    <p:sldId id="276" r:id="rId11"/>
    <p:sldId id="264" r:id="rId12"/>
    <p:sldId id="277" r:id="rId13"/>
    <p:sldId id="272" r:id="rId14"/>
    <p:sldId id="273" r:id="rId15"/>
    <p:sldId id="274" r:id="rId16"/>
    <p:sldId id="267" r:id="rId17"/>
    <p:sldId id="275" r:id="rId18"/>
    <p:sldId id="269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6" y="6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EA1C0-6CFA-44CF-A81D-3CC8C79A6319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1AB95-C52B-4C4C-B3C2-9FA4601046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24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на открытом воздухе, небо, облака">
            <a:extLst>
              <a:ext uri="{FF2B5EF4-FFF2-40B4-BE49-F238E27FC236}">
                <a16:creationId xmlns:a16="http://schemas.microsoft.com/office/drawing/2014/main" id="{6D5C6D59-21E4-A7B7-3B0E-3457E558BE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78"/>
            <a:ext cx="12194523" cy="6858000"/>
          </a:xfrm>
          <a:prstGeom prst="rect">
            <a:avLst/>
          </a:prstGeom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751C7B84-5999-0504-631F-DAC431492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6" y="273721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Изображение выглядит как текст, знак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AF1A18F8-93A0-2011-09C0-914B8ECA6EB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432" y="169511"/>
            <a:ext cx="756000" cy="756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5F1DD-3253-934D-C31C-AB848FBF4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64FAE1-9C34-80B1-349A-16AF4AC44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40AE9E-7EAA-E19B-1449-CAD642E5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38A3-B5FA-4892-8782-04A8FAC2DE2D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CA5C7-E0A8-D978-C348-04556224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5095A-9844-D13C-808D-CE4B8DF8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161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B9CB8-6D19-3AEA-1CF3-4B81C0F3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00D62C-984D-0F4D-DEAB-2CF3FE82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  <a:lvl2pPr>
              <a:defRPr>
                <a:latin typeface="Arial Narrow" panose="020B0606020202030204" pitchFamily="34" charset="0"/>
              </a:defRPr>
            </a:lvl2pPr>
            <a:lvl3pPr>
              <a:defRPr>
                <a:latin typeface="Arial Narrow" panose="020B0606020202030204" pitchFamily="34" charset="0"/>
              </a:defRPr>
            </a:lvl3pPr>
            <a:lvl4pPr>
              <a:defRPr>
                <a:latin typeface="Arial Narrow" panose="020B0606020202030204" pitchFamily="34" charset="0"/>
              </a:defRPr>
            </a:lvl4pPr>
            <a:lvl5pPr>
              <a:defRPr>
                <a:latin typeface="Arial Narrow" panose="020B060602020203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BF4D9E-BB75-BC74-824E-29DC98C1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DC75-0073-477D-B85F-B87BD2D9AA66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20BCE-D28D-1DD7-C5E8-C41A4CF9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17AC7-DD1F-0F43-4EF6-526F2CA5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>
            <a:lvl1pPr>
              <a:defRPr sz="2400">
                <a:latin typeface="Arial Black" panose="020B0A04020102020204" pitchFamily="34" charset="0"/>
              </a:defRPr>
            </a:lvl1pPr>
          </a:lstStyle>
          <a:p>
            <a:fld id="{2E0151D6-1CE6-4546-836D-2A836D7A7EF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26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56F84-824A-FBD9-9C64-3D22056D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E4AC80-28FC-F758-5D7E-2EC25D680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685893-273D-03C2-D13A-2954ABDC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988C-DC8F-439B-AB31-15A4297BC55F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8C9142-6079-7C64-4476-57AD7E19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185AD7-245A-F056-6102-F20413E9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26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C5F12-CB87-36C4-4C4A-03A51C25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216A7-D18C-122F-B769-3F585F5CB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D60A8F-08FB-2547-9884-ED546FEBE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702D29-B561-8B0F-F7E3-BA07DA15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22C7-A0AF-4B73-A3E0-92773191928A}" type="datetime1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4E2FB0-80C8-435C-72ED-FAFB3A93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BC351E-F527-8051-2F11-060401C5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75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BF19F-23EA-C82D-EAD6-E2F8F344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4FC64-EBA9-C75D-C24B-FF92FE2F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2D1998-5AA5-2509-E83C-FC11F6C99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2B318A-6E8B-2EC3-6915-E9D51422E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64680F-351F-90E8-95EB-46569216E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11C92B1-B12E-7F66-265B-49BFCED5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5EF7-06F9-47F2-ABB5-15A865F5A607}" type="datetime1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1031A4-4DA7-EB65-6EA7-92C1FA21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62D7A3-D027-D612-060D-ACA0287C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64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9EA5C-3DF8-36A7-E703-E4FFFEA4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1BDCB2-79FC-34EF-A915-535B50EA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33A35-A3AC-4FD5-9F62-E2E842F797D6}" type="datetime1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0BC0D6-FCA4-9CAB-9CBB-F7F6767B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F7D13D-6456-ABF8-B3A8-3921C601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82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76F736-8228-8360-7960-9C12F86E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B44B-5874-4EB6-914B-68491120A420}" type="datetime1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F6EE67-52B4-9358-5E04-0F341C4E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677A64-8ACA-91BC-7D2C-F2995618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042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30B7F-2C37-1D18-709B-529A744D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76B432-BB1E-BB7A-C5DE-9D9E436DE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48938C-4B8C-C3B1-9004-69C7FA5B5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FC399B-C28E-D9E5-6B69-496BA381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103B-4E77-49D0-9E40-D0F96ACD7E42}" type="datetime1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C0009B-7CDD-8E58-D125-AD02AB0D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9D335D-91B4-1EE5-A153-66952970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8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41257-E821-2EFE-F4B2-568DBB71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398E54-99A1-16FA-07E2-998E7BA72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15B409-700F-50AB-70F7-1C63300EA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51E04C-9663-2652-594F-5EF0FD521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F4974-916B-4771-921F-D6B7309972A3}" type="datetime1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A2849C-236C-1692-1D7A-FEE0EB55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D6689-8498-2FC2-24E4-757BD5BF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74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090FF-039C-B667-C2D9-965CE468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D7DB03-D7A4-5F64-A77E-A6AEFCA3E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9C5B19-B263-2CBA-FF72-E17088A6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DF212-0581-4804-9196-08E59AD85A60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1A1671-6668-C911-E003-441052A9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81DEC3-2D76-ED76-CC14-81086C93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2173E8-8F12-1B34-A8FF-06866B9C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E24B7C-FCF4-861C-FE27-F41A78A90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2576D-E217-7A78-7D94-052D5158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3102-27BA-4101-BD19-C265B43D1861}" type="datetime1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05B6A5-A228-0529-4620-E999888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B7FF60-D08C-AC78-BADB-4DA7E6F3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51D6-1CE6-4546-836D-2A836D7A7E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55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1142D4-F29C-B262-5AEE-2237EB60194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356350"/>
            <a:ext cx="12192000" cy="5181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D1B3A-92EF-0C7A-2BAC-538AFB48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D6C7B3-39DD-B740-32FA-A16F19D82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770914-14FB-2556-F151-0F04939F1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  <a:latin typeface="Arial Narrow" panose="020B0606020202030204" pitchFamily="34" charset="0"/>
              </a:defRPr>
            </a:lvl1pPr>
          </a:lstStyle>
          <a:p>
            <a:fld id="{2732E4CB-F021-4DE4-87F8-062D97973001}" type="datetime1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B06EEE-6F5B-DB73-F3C0-AE8E08807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70C0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ru-RU"/>
              <a:t>ВКР (б) студента Фамилия Имя Отчетство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0D6AD2-8755-A3BF-02D2-A3ABBD7E3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31044" y="298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2E0151D6-1CE6-4546-836D-2A836D7A7EF2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1E4547E6-9B94-D7C3-AABF-EF1819642B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" y="105046"/>
            <a:ext cx="783084" cy="75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 descr="Изображение выглядит как текст, знак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58FAC22D-CBF1-C85B-B1A7-47273E92511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7" y="945400"/>
            <a:ext cx="756000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1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70C0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test.dev/" TargetMode="External"/><Relationship Id="rId5" Type="http://schemas.openxmlformats.org/officeDocument/2006/relationships/hyperlink" Target="https://docs.docker.com/" TargetMode="External"/><Relationship Id="rId4" Type="http://schemas.openxmlformats.org/officeDocument/2006/relationships/hyperlink" Target="https://www.postgresql.org/docs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1BCD2B2-0A29-825D-C3AD-4A907E5A8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870" y="1321393"/>
            <a:ext cx="10053763" cy="2928470"/>
          </a:xfrm>
        </p:spPr>
        <p:txBody>
          <a:bodyPr anchor="b">
            <a:normAutofit/>
          </a:bodyPr>
          <a:lstStyle/>
          <a:p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Выпускная квалификационная работа бакалавра</a:t>
            </a:r>
            <a:br>
              <a:rPr lang="ru-RU" sz="28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</a:b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на тему:</a:t>
            </a:r>
            <a:br>
              <a:rPr lang="ru-RU" sz="28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</a:b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</a:rPr>
              <a:t>«</a:t>
            </a:r>
            <a:r>
              <a:rPr lang="ru-RU" sz="3200" dirty="0">
                <a:solidFill>
                  <a:srgbClr val="002060"/>
                </a:solidFill>
                <a:latin typeface="Impact" panose="020B0806030902050204" pitchFamily="34" charset="0"/>
              </a:rPr>
              <a:t>М</a:t>
            </a:r>
            <a:r>
              <a:rPr lang="ru-RU" sz="3200" dirty="0">
                <a:solidFill>
                  <a:srgbClr val="002060"/>
                </a:solidFill>
              </a:rPr>
              <a:t>икросервисное веб-приложение для управления внутренними задачами, проектами и коммуникацией команды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  <a:latin typeface="Impact" panose="020B0806030902050204" pitchFamily="34" charset="0"/>
              </a:rPr>
              <a:t>»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F540554-811B-9541-4859-B726FE6A2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5589"/>
            <a:ext cx="10005951" cy="1915828"/>
          </a:xfrm>
        </p:spPr>
        <p:txBody>
          <a:bodyPr anchor="ctr">
            <a:normAutofit/>
          </a:bodyPr>
          <a:lstStyle/>
          <a:p>
            <a:pPr algn="l"/>
            <a:r>
              <a:rPr lang="ru-RU" sz="2000" b="1" dirty="0">
                <a:latin typeface="Arial Narrow" panose="020B0606020202030204" pitchFamily="34" charset="0"/>
              </a:rPr>
              <a:t>Студент группы М8О-407Б-22: </a:t>
            </a:r>
            <a:r>
              <a:rPr lang="ru-RU" sz="2000" dirty="0">
                <a:latin typeface="Arial Narrow" panose="020B0606020202030204" pitchFamily="34" charset="0"/>
              </a:rPr>
              <a:t>Кострюков Евгений Сергеевич</a:t>
            </a:r>
          </a:p>
          <a:p>
            <a:pPr algn="l"/>
            <a:r>
              <a:rPr lang="ru-RU" sz="2000" b="1" dirty="0">
                <a:latin typeface="Arial Narrow" panose="020B0606020202030204" pitchFamily="34" charset="0"/>
              </a:rPr>
              <a:t>Научный руководитель: </a:t>
            </a:r>
            <a:r>
              <a:rPr lang="ru-RU" sz="2000" dirty="0"/>
              <a:t>кандидат физико-математических наук, доцент, доцент 806 кафедры МАИ С</a:t>
            </a:r>
            <a:r>
              <a:rPr lang="en-US" sz="2000" dirty="0"/>
              <a:t>.</a:t>
            </a:r>
            <a:r>
              <a:rPr lang="ru-RU" sz="2000" dirty="0"/>
              <a:t>В</a:t>
            </a:r>
            <a:r>
              <a:rPr lang="en-US" sz="2000" dirty="0"/>
              <a:t>.</a:t>
            </a:r>
            <a:r>
              <a:rPr lang="ru-RU" sz="2000" dirty="0"/>
              <a:t>Кузнецова</a:t>
            </a:r>
          </a:p>
          <a:p>
            <a:r>
              <a:rPr lang="ru-RU" sz="2000" dirty="0">
                <a:latin typeface="Arial Narrow" panose="020B0606020202030204" pitchFamily="34" charset="0"/>
              </a:rPr>
              <a:t>Москва –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A5CE42-585F-790A-9326-3656C4167C0C}"/>
              </a:ext>
            </a:extLst>
          </p:cNvPr>
          <p:cNvSpPr txBox="1"/>
          <p:nvPr/>
        </p:nvSpPr>
        <p:spPr>
          <a:xfrm>
            <a:off x="1509690" y="216967"/>
            <a:ext cx="9763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Московский авиационный институт (национальный исследовательский университет)</a:t>
            </a:r>
          </a:p>
          <a:p>
            <a:pPr algn="ctr"/>
            <a:endParaRPr lang="ru-RU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Arial Narrow" panose="020B0606020202030204" pitchFamily="34" charset="0"/>
              </a:rPr>
              <a:t>Институт № 8 «Компьютерные науки и прикладная математика»</a:t>
            </a:r>
          </a:p>
          <a:p>
            <a:pPr algn="ctr"/>
            <a:endParaRPr lang="ru-RU" sz="20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Arial Narrow" panose="020B0606020202030204" pitchFamily="34" charset="0"/>
              </a:rPr>
              <a:t>Кафедра № 806 «Вычислительная математика и программирование» 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23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C8C3E-8A13-8583-50E5-43E8ACDC6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F2CAC8-BB4B-3FFE-8B16-3533DF2F9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/>
              <a:t>Небольшим командам и учебным группам требуется учёт задач и проектов без обязательной привязки к внешнему облаку. Коммерческие сервисы нередко стоят денег или содержат функции, которые для учебной постановки не нужны; размещение данных у третьей стороны тоже не всегда желательно. Развёртывание у себя снимает часть этих ограничений. В качестве объекта ВКР удобно показать разбиение на сервисы, защиту HTTP-API и прогон тестов в среде непрерывной интеграции.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AED8D8-59C6-F33C-2229-C65B0C81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F58BB2-7F3D-3816-B911-66F92309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891917"/>
            <a:ext cx="12192000" cy="365125"/>
          </a:xfrm>
        </p:spPr>
        <p:txBody>
          <a:bodyPr/>
          <a:lstStyle/>
          <a:p>
            <a:pPr algn="ctr"/>
            <a:fld id="{AA122864-3AA6-4297-8698-F1729B8C224A}" type="slidenum">
              <a:rPr lang="ru-RU" smtClean="0"/>
              <a:pPr algn="ctr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73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481CD-4F2C-E0FB-1E82-972ABE52D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069B9-C69E-9AE5-0D0E-65A9DBA3A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Arial Black" panose="020B0A04020102020204" pitchFamily="34" charset="0"/>
              </a:rPr>
              <a:t>Цель</a:t>
            </a:r>
            <a:r>
              <a:rPr lang="ru-RU" dirty="0"/>
              <a:t> – работоспособный прототип: проекты и задачи, вход, роли, уведомления, вложения, отчёты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ru-RU" dirty="0">
                <a:latin typeface="Arial Black" panose="020B0A04020102020204" pitchFamily="34" charset="0"/>
              </a:rPr>
              <a:t>Задачи:</a:t>
            </a:r>
          </a:p>
          <a:p>
            <a:pPr lvl="1">
              <a:lnSpc>
                <a:spcPct val="100000"/>
              </a:lnSpc>
            </a:pPr>
            <a:r>
              <a:rPr lang="ru-RU" sz="2800" dirty="0" err="1"/>
              <a:t>микросервисы</a:t>
            </a:r>
            <a:r>
              <a:rPr lang="ru-RU" sz="2800" dirty="0"/>
              <a:t>, у каждого своя БД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backend Java/Spring Boot, </a:t>
            </a:r>
            <a:r>
              <a:rPr lang="ru-RU" sz="2800" dirty="0"/>
              <a:t>клиент </a:t>
            </a:r>
            <a:r>
              <a:rPr lang="en-US" sz="2800" dirty="0"/>
              <a:t>React</a:t>
            </a:r>
          </a:p>
          <a:p>
            <a:pPr lvl="1">
              <a:lnSpc>
                <a:spcPct val="100000"/>
              </a:lnSpc>
            </a:pPr>
            <a:r>
              <a:rPr lang="ru-RU" sz="2800" dirty="0"/>
              <a:t>файлы в </a:t>
            </a:r>
            <a:r>
              <a:rPr lang="en-US" sz="2800" dirty="0" err="1"/>
              <a:t>MinIO</a:t>
            </a:r>
            <a:r>
              <a:rPr lang="en-US" sz="2800" dirty="0"/>
              <a:t>, </a:t>
            </a:r>
            <a:r>
              <a:rPr lang="ru-RU" sz="2800" dirty="0"/>
              <a:t>учёт в </a:t>
            </a:r>
            <a:r>
              <a:rPr lang="en-US" sz="2800" dirty="0"/>
              <a:t>PostgreSQL</a:t>
            </a:r>
          </a:p>
          <a:p>
            <a:pPr lvl="1">
              <a:lnSpc>
                <a:spcPct val="100000"/>
              </a:lnSpc>
            </a:pPr>
            <a:r>
              <a:rPr lang="ru-RU" sz="2800" dirty="0"/>
              <a:t>тесты </a:t>
            </a:r>
            <a:r>
              <a:rPr lang="en-US" sz="2800" dirty="0"/>
              <a:t>Maven, </a:t>
            </a:r>
            <a:r>
              <a:rPr lang="en-US" sz="2800" dirty="0" err="1"/>
              <a:t>Vitest</a:t>
            </a:r>
            <a:r>
              <a:rPr lang="en-US" sz="2800" dirty="0"/>
              <a:t>, Playwright; CI </a:t>
            </a:r>
            <a:r>
              <a:rPr lang="ru-RU" sz="2800" dirty="0"/>
              <a:t>в </a:t>
            </a:r>
            <a:r>
              <a:rPr lang="en-US" sz="2800" dirty="0"/>
              <a:t>GitHub Actions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D69AFD-303B-5D3B-B661-59FB5504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235E21-377E-C489-A127-2D430D3C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852161"/>
            <a:ext cx="12192000" cy="365125"/>
          </a:xfrm>
        </p:spPr>
        <p:txBody>
          <a:bodyPr/>
          <a:lstStyle/>
          <a:p>
            <a:pPr algn="ctr"/>
            <a:fld id="{AA122864-3AA6-4297-8698-F1729B8C224A}" type="slidenum">
              <a:rPr lang="ru-RU" smtClean="0"/>
              <a:pPr algn="ctr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44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C74A9-0176-F8D9-1D77-F2AFD0028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53985C-B853-2AF6-CF10-58AB248A5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/>
              <a:t>Рассматривается учебный прототип, а не готовый коммерческий продукт. Сборка и запуск рассчитаны на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. Обмен между сервисами идёт по HTTP; отдельный внутренний вызов для записи уведомлений закрыт ключом в заголовке запроса. В работе делается упор на согласованность архитектуры, проверки прав на стороне сервера и прохождение основных сценариев в интерфейсе.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25F63F-54D2-1647-B4D2-332B3513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F784FB-6C6F-A1CC-D79E-0E4B6B59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868062"/>
            <a:ext cx="12192000" cy="365125"/>
          </a:xfrm>
        </p:spPr>
        <p:txBody>
          <a:bodyPr/>
          <a:lstStyle/>
          <a:p>
            <a:pPr algn="ctr"/>
            <a:fld id="{AA122864-3AA6-4297-8698-F1729B8C224A}" type="slidenum">
              <a:rPr lang="ru-RU" smtClean="0"/>
              <a:pPr algn="ctr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07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BE5DC-3BDE-8520-3FEA-015702F6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выполнения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2993DB-48FB-CD14-F72E-1A3B8CDBC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/>
              <a:t>Требования к прототипу, выбор стека</a:t>
            </a:r>
          </a:p>
          <a:p>
            <a:pPr>
              <a:lnSpc>
                <a:spcPct val="100000"/>
              </a:lnSpc>
            </a:pPr>
            <a:r>
              <a:rPr lang="ru-RU" dirty="0"/>
              <a:t>Проектирование сервисов, БД, </a:t>
            </a:r>
            <a:r>
              <a:rPr lang="en-US" dirty="0"/>
              <a:t>API </a:t>
            </a:r>
            <a:r>
              <a:rPr lang="ru-RU" dirty="0"/>
              <a:t>для клиента; уведомления: </a:t>
            </a:r>
            <a:r>
              <a:rPr lang="en-US" dirty="0"/>
              <a:t>tasks-service </a:t>
            </a:r>
            <a:r>
              <a:rPr lang="ru-RU" dirty="0"/>
              <a:t>отправляет в</a:t>
            </a:r>
            <a:r>
              <a:rPr lang="en-US" dirty="0"/>
              <a:t> analytics-service</a:t>
            </a:r>
          </a:p>
          <a:p>
            <a:pPr>
              <a:lnSpc>
                <a:spcPct val="100000"/>
              </a:lnSpc>
            </a:pPr>
            <a:r>
              <a:rPr lang="en-US" dirty="0"/>
              <a:t>Backend: auth-, tasks-, analytics-service; </a:t>
            </a:r>
            <a:r>
              <a:rPr lang="ru-RU" dirty="0"/>
              <a:t>модуль </a:t>
            </a:r>
            <a:r>
              <a:rPr lang="en-US" dirty="0" err="1"/>
              <a:t>taskboard</a:t>
            </a:r>
            <a:r>
              <a:rPr lang="en-US" dirty="0"/>
              <a:t>-common (JWT)</a:t>
            </a:r>
          </a:p>
          <a:p>
            <a:pPr>
              <a:lnSpc>
                <a:spcPct val="100000"/>
              </a:lnSpc>
            </a:pPr>
            <a:r>
              <a:rPr lang="ru-RU" dirty="0"/>
              <a:t>Клиент: экраны проектов, задач, уведомлений, отчётов, профиля.</a:t>
            </a:r>
          </a:p>
          <a:p>
            <a:pPr>
              <a:lnSpc>
                <a:spcPct val="100000"/>
              </a:lnSpc>
            </a:pPr>
            <a:r>
              <a:rPr lang="ru-RU" dirty="0"/>
              <a:t>Контейнеры </a:t>
            </a:r>
            <a:r>
              <a:rPr lang="en-US" dirty="0"/>
              <a:t>PostgreSQL </a:t>
            </a:r>
            <a:r>
              <a:rPr lang="ru-RU" dirty="0"/>
              <a:t>и </a:t>
            </a:r>
            <a:r>
              <a:rPr lang="en-US" dirty="0" err="1"/>
              <a:t>MinIO</a:t>
            </a:r>
            <a:r>
              <a:rPr lang="en-US" dirty="0"/>
              <a:t>, </a:t>
            </a:r>
            <a:r>
              <a:rPr lang="ru-RU" dirty="0" err="1"/>
              <a:t>логи</a:t>
            </a:r>
            <a:r>
              <a:rPr lang="ru-RU" dirty="0"/>
              <a:t>, </a:t>
            </a:r>
            <a:r>
              <a:rPr lang="en-US" dirty="0"/>
              <a:t>README</a:t>
            </a:r>
          </a:p>
          <a:p>
            <a:pPr>
              <a:lnSpc>
                <a:spcPct val="100000"/>
              </a:lnSpc>
            </a:pPr>
            <a:r>
              <a:rPr lang="ru-RU" dirty="0"/>
              <a:t>Тесты </a:t>
            </a:r>
            <a:r>
              <a:rPr lang="en-US" dirty="0"/>
              <a:t>Maven, </a:t>
            </a:r>
            <a:r>
              <a:rPr lang="en-US" dirty="0" err="1"/>
              <a:t>Vitest</a:t>
            </a:r>
            <a:r>
              <a:rPr lang="en-US" dirty="0"/>
              <a:t>, Playwright; workflow </a:t>
            </a:r>
            <a:r>
              <a:rPr lang="ru-RU" dirty="0"/>
              <a:t>в репозитории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7C62F1-D100-E20B-F3ED-341D9B319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81486F-444F-2639-3C90-49599497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820355"/>
            <a:ext cx="12192000" cy="365125"/>
          </a:xfrm>
        </p:spPr>
        <p:txBody>
          <a:bodyPr/>
          <a:lstStyle/>
          <a:p>
            <a:pPr algn="ctr"/>
            <a:fld id="{AA122864-3AA6-4297-8698-F1729B8C224A}" type="slidenum">
              <a:rPr lang="ru-RU" smtClean="0"/>
              <a:pPr algn="ctr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48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BCE2A-6269-4055-98E3-31A13F317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 и методы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907A8B-C4AE-A90F-75C6-C1F1DE0E9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Backend: Java 17, Spring Boot 3, Spring Data JPA, Spring Security</a:t>
            </a:r>
          </a:p>
          <a:p>
            <a:pPr>
              <a:lnSpc>
                <a:spcPct val="100000"/>
              </a:lnSpc>
            </a:pPr>
            <a:r>
              <a:rPr lang="ru-RU" dirty="0"/>
              <a:t>Клиент: </a:t>
            </a:r>
            <a:r>
              <a:rPr lang="en-US" dirty="0"/>
              <a:t>React 18, </a:t>
            </a:r>
            <a:r>
              <a:rPr lang="en-US" dirty="0" err="1"/>
              <a:t>Vite</a:t>
            </a:r>
            <a:r>
              <a:rPr lang="en-US" dirty="0"/>
              <a:t>, React Router; </a:t>
            </a:r>
            <a:r>
              <a:rPr lang="ru-RU" dirty="0"/>
              <a:t>тесты - </a:t>
            </a:r>
            <a:r>
              <a:rPr lang="en-US" dirty="0" err="1"/>
              <a:t>Vitest</a:t>
            </a:r>
            <a:r>
              <a:rPr lang="en-US" dirty="0"/>
              <a:t>, Testing Library</a:t>
            </a:r>
          </a:p>
          <a:p>
            <a:pPr>
              <a:lnSpc>
                <a:spcPct val="100000"/>
              </a:lnSpc>
            </a:pPr>
            <a:r>
              <a:rPr lang="ru-RU" dirty="0"/>
              <a:t>Данные: </a:t>
            </a:r>
            <a:r>
              <a:rPr lang="en-US" dirty="0"/>
              <a:t>PostgreSQL (</a:t>
            </a:r>
            <a:r>
              <a:rPr lang="ru-RU" dirty="0"/>
              <a:t>отдельная БД на сервис), </a:t>
            </a:r>
            <a:r>
              <a:rPr lang="en-US" dirty="0" err="1"/>
              <a:t>MinIO</a:t>
            </a:r>
            <a:r>
              <a:rPr lang="en-US" dirty="0"/>
              <a:t> </a:t>
            </a:r>
            <a:r>
              <a:rPr lang="ru-RU" dirty="0"/>
              <a:t>для вложений</a:t>
            </a:r>
          </a:p>
          <a:p>
            <a:pPr>
              <a:lnSpc>
                <a:spcPct val="100000"/>
              </a:lnSpc>
            </a:pPr>
            <a:r>
              <a:rPr lang="ru-RU" dirty="0"/>
              <a:t>Защита: </a:t>
            </a:r>
            <a:r>
              <a:rPr lang="en-US" dirty="0" err="1"/>
              <a:t>BCrypt</a:t>
            </a:r>
            <a:r>
              <a:rPr lang="en-US" dirty="0"/>
              <a:t>, JWT; </a:t>
            </a:r>
            <a:r>
              <a:rPr lang="ru-RU" dirty="0"/>
              <a:t>роли </a:t>
            </a:r>
            <a:r>
              <a:rPr lang="en-US" dirty="0"/>
              <a:t>ADMIN, MANAGER, EXECUTOR; </a:t>
            </a:r>
            <a:r>
              <a:rPr lang="ru-RU" dirty="0"/>
              <a:t>доступ к задачам по участию в проекте</a:t>
            </a:r>
          </a:p>
          <a:p>
            <a:pPr>
              <a:lnSpc>
                <a:spcPct val="100000"/>
              </a:lnSpc>
            </a:pPr>
            <a:r>
              <a:rPr lang="ru-RU" dirty="0"/>
              <a:t>Сборка: </a:t>
            </a:r>
            <a:r>
              <a:rPr lang="en-US" dirty="0"/>
              <a:t>Maven, </a:t>
            </a:r>
            <a:r>
              <a:rPr lang="en-US" dirty="0" err="1"/>
              <a:t>npm</a:t>
            </a:r>
            <a:r>
              <a:rPr lang="en-US" dirty="0"/>
              <a:t>; Docker Compose</a:t>
            </a:r>
          </a:p>
          <a:p>
            <a:pPr>
              <a:lnSpc>
                <a:spcPct val="100000"/>
              </a:lnSpc>
            </a:pPr>
            <a:r>
              <a:rPr lang="ru-RU" dirty="0"/>
              <a:t>На сервере логика в сервисах, контроллеры без дублирования правил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B574EA-C945-7744-2B91-426C9E1E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844209"/>
            <a:ext cx="12192000" cy="365125"/>
          </a:xfrm>
        </p:spPr>
        <p:txBody>
          <a:bodyPr/>
          <a:lstStyle/>
          <a:p>
            <a:pPr algn="ctr"/>
            <a:fld id="{AA122864-3AA6-4297-8698-F1729B8C224A}" type="slidenum">
              <a:rPr lang="ru-RU" smtClean="0"/>
              <a:pPr algn="ctr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7353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F7F12-B14B-B69E-43A9-B480E536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DB34C9DE-DADB-4462-B418-22ECE513D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2683"/>
            <a:ext cx="4272116" cy="4337769"/>
          </a:xfr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FCFD01-D2D0-C9AA-D076-676DA06E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361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F7F12-B14B-B69E-43A9-B480E536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диаграммы баз данных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FCFD01-D2D0-C9AA-D076-676DA06E0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8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92BBFE-5E42-446C-BBC6-62F50A8AF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445" y="1594824"/>
            <a:ext cx="3795058" cy="288296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EB24CF-3EF2-457E-BB80-610DC1B25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4324"/>
            <a:ext cx="4316361" cy="425988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452349-99D5-4F1C-9CEA-4F796D869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649" y="1594824"/>
            <a:ext cx="2079151" cy="15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8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6753-1551-A4BE-1BD5-43FC7B3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Состав </a:t>
            </a:r>
            <a:r>
              <a:rPr lang="en-US" dirty="0"/>
              <a:t>backend-</a:t>
            </a:r>
            <a:r>
              <a:rPr lang="ru-RU" dirty="0"/>
              <a:t>сервисов</a:t>
            </a:r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33971"/>
              </p:ext>
            </p:extLst>
          </p:nvPr>
        </p:nvGraphicFramePr>
        <p:xfrm>
          <a:off x="838200" y="1837704"/>
          <a:ext cx="8227840" cy="2461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477">
                  <a:extLst>
                    <a:ext uri="{9D8B030D-6E8A-4147-A177-3AD203B41FA5}">
                      <a16:colId xmlns:a16="http://schemas.microsoft.com/office/drawing/2014/main" val="3475413122"/>
                    </a:ext>
                  </a:extLst>
                </a:gridCol>
              </a:tblGrid>
              <a:tr h="3105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Сервис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База данных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Назначение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auth-service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taskboard_auth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Регистрация, вход, выдача и проверка JWT, профиль, список пользователей, смена пароля; смена ролей для учётной записи администратора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tasks-service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taskboard_tasks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Проекты, состав участников, задачи, комментарии, вложения (файл в </a:t>
                      </a:r>
                      <a:r>
                        <a:rPr lang="ru-RU" sz="1400" dirty="0" err="1">
                          <a:effectLst/>
                          <a:latin typeface="+mn-lt"/>
                          <a:ea typeface="Calibri"/>
                          <a:cs typeface="Times New Roman"/>
                        </a:rPr>
                        <a:t>MinIO</a:t>
                      </a:r>
                      <a:r>
                        <a:rPr lang="ru-RU" sz="14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, запись в БД), журнал изменений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analytics-service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taskboard_analytics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Уведомления пользователю, поток SSE, сводные отчёты и выгрузка в CSV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err="1"/>
                        <a:t>taskboard-common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/>
                        <a:t>общая настройка с разбором JWT для </a:t>
                      </a:r>
                      <a:r>
                        <a:rPr lang="ru-RU" sz="1400" dirty="0" err="1"/>
                        <a:t>tasks-service</a:t>
                      </a:r>
                      <a:r>
                        <a:rPr lang="ru-RU" sz="1400" dirty="0"/>
                        <a:t> и </a:t>
                      </a:r>
                      <a:r>
                        <a:rPr lang="ru-RU" sz="1400" dirty="0" err="1"/>
                        <a:t>analytics-service</a:t>
                      </a:r>
                      <a:endParaRPr lang="ru-RU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100998"/>
                  </a:ext>
                </a:extLst>
              </a:tr>
            </a:tbl>
          </a:graphicData>
        </a:graphic>
      </p:graphicFrame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B5E48D-E36C-F393-3E69-46A3E1D4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1486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6753-1551-A4BE-1BD5-43FC7B3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Клиентское приложение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B5E48D-E36C-F393-3E69-46A3E1D4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10</a:t>
            </a:fld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DF00CA0-434D-4594-963B-6D85345FC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Экраны: вход и регистрация; </a:t>
            </a:r>
            <a:r>
              <a:rPr lang="ru-RU" dirty="0" err="1"/>
              <a:t>дашборд</a:t>
            </a:r>
            <a:r>
              <a:rPr lang="ru-RU" dirty="0"/>
              <a:t>; проекты и участники; задачи (список, карточка, комментарии, файлы, история); уведомления; аналитика и выгрузка CSV; профиль и роли (админ)</a:t>
            </a:r>
          </a:p>
          <a:p>
            <a:r>
              <a:rPr lang="ru-RU" dirty="0"/>
              <a:t>Оформление: проверка полей, сообщения об ошибках, индикатор загрузки, меню для узкого экрана, бейдж непрочитанных в шапке</a:t>
            </a:r>
          </a:p>
        </p:txBody>
      </p:sp>
    </p:spTree>
    <p:extLst>
      <p:ext uri="{BB962C8B-B14F-4D97-AF65-F5344CB8AC3E}">
        <p14:creationId xmlns:p14="http://schemas.microsoft.com/office/powerpoint/2010/main" val="338577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6753-1551-A4BE-1BD5-43FC7B3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QR-</a:t>
            </a:r>
            <a:r>
              <a:rPr lang="ru-RU" dirty="0"/>
              <a:t>код ссылки, где выложен код</a:t>
            </a:r>
            <a:r>
              <a:rPr lang="en-US" dirty="0"/>
              <a:t>: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BE9A2AD-7F4B-41AA-80EE-B6B1F8883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35" y="2033690"/>
            <a:ext cx="3976278" cy="3976278"/>
          </a:xfr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B5E48D-E36C-F393-3E69-46A3E1D4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663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6753-1551-A4BE-1BD5-43FC7B3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программной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CC413-54CD-79F8-C6EB-0FD857E6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Серверная часть разбита на три приложения с разными схемами БД. Браузер ходит в REST-API и передаёт JWT. Правила «кто что может менять» задаются в классах сервиса, а не в контроллере; для проектов разведены операции чтения и изменения. Уведомление из </a:t>
            </a:r>
            <a:r>
              <a:rPr lang="ru-RU" dirty="0" err="1"/>
              <a:t>tasks-service</a:t>
            </a:r>
            <a:r>
              <a:rPr lang="ru-RU" dirty="0"/>
              <a:t> в </a:t>
            </a:r>
            <a:r>
              <a:rPr lang="ru-RU" dirty="0" err="1"/>
              <a:t>analytics-service</a:t>
            </a:r>
            <a:r>
              <a:rPr lang="ru-RU" dirty="0"/>
              <a:t> передаётся отдельным запросом с секретным ключом в заголовке. Содержимое файлов вложений лежит в </a:t>
            </a:r>
            <a:r>
              <a:rPr lang="ru-RU" dirty="0" err="1"/>
              <a:t>MinIO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B5E48D-E36C-F393-3E69-46A3E1D4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405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B6753-1551-A4BE-1BD5-43FC7B32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 функций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CC413-54CD-79F8-C6EB-0FD857E6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Контроллер проектов, который вызывает сервис:</a:t>
            </a:r>
            <a:r>
              <a:rPr lang="en-US" dirty="0"/>
              <a:t>					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B5E48D-E36C-F393-3E69-46A3E1D4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3D9846-AB42-458E-A84C-A3CF27D0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8661"/>
            <a:ext cx="8924003" cy="28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6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371D0-BC3A-D153-BB33-DBE9F02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E255E9-ED06-0E9C-2E0D-F58AACE51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90" y="1796995"/>
            <a:ext cx="10503010" cy="4379968"/>
          </a:xfrm>
        </p:spPr>
        <p:txBody>
          <a:bodyPr/>
          <a:lstStyle/>
          <a:p>
            <a:r>
              <a:rPr lang="en-US" dirty="0"/>
              <a:t>Backend: </a:t>
            </a:r>
            <a:r>
              <a:rPr lang="ru-RU" dirty="0"/>
              <a:t>тесты </a:t>
            </a:r>
            <a:r>
              <a:rPr lang="en-US" dirty="0"/>
              <a:t>Maven </a:t>
            </a:r>
            <a:r>
              <a:rPr lang="ru-RU" dirty="0"/>
              <a:t>в проектах </a:t>
            </a:r>
            <a:r>
              <a:rPr lang="en-US" dirty="0"/>
              <a:t>auth-service, tasks-service, analytics-service</a:t>
            </a:r>
          </a:p>
          <a:p>
            <a:r>
              <a:rPr lang="ru-RU" dirty="0"/>
              <a:t>Клиент: модульные тесты на </a:t>
            </a:r>
            <a:r>
              <a:rPr lang="en-US" dirty="0" err="1"/>
              <a:t>Vitest</a:t>
            </a:r>
            <a:endParaRPr lang="en-US" dirty="0"/>
          </a:p>
          <a:p>
            <a:r>
              <a:rPr lang="ru-RU" dirty="0"/>
              <a:t>Сквозная проверка: </a:t>
            </a:r>
            <a:r>
              <a:rPr lang="en-US" dirty="0"/>
              <a:t>Playwright </a:t>
            </a:r>
            <a:r>
              <a:rPr lang="ru-RU" dirty="0"/>
              <a:t>по уже поднятому </a:t>
            </a:r>
            <a:r>
              <a:rPr lang="en-US" dirty="0"/>
              <a:t>docker compose</a:t>
            </a:r>
          </a:p>
          <a:p>
            <a:r>
              <a:rPr lang="ru-RU" dirty="0"/>
              <a:t>В репозитории: </a:t>
            </a:r>
            <a:r>
              <a:rPr lang="en-US" dirty="0"/>
              <a:t>workflow GitHub Actions, </a:t>
            </a:r>
            <a:r>
              <a:rPr lang="ru-RU" dirty="0"/>
              <a:t>последовательно </a:t>
            </a:r>
            <a:r>
              <a:rPr lang="en-US" dirty="0"/>
              <a:t>backend, </a:t>
            </a:r>
            <a:r>
              <a:rPr lang="ru-RU" dirty="0"/>
              <a:t>затем </a:t>
            </a:r>
            <a:r>
              <a:rPr lang="en-US" dirty="0" err="1"/>
              <a:t>Vitest</a:t>
            </a:r>
            <a:r>
              <a:rPr lang="en-US" dirty="0"/>
              <a:t>, </a:t>
            </a:r>
            <a:r>
              <a:rPr lang="ru-RU" dirty="0"/>
              <a:t>затем </a:t>
            </a:r>
            <a:r>
              <a:rPr lang="en-US" dirty="0"/>
              <a:t>e2e</a:t>
            </a:r>
          </a:p>
          <a:p>
            <a:r>
              <a:rPr lang="ru-RU" dirty="0"/>
              <a:t>На машине разработчика: сценарий </a:t>
            </a:r>
            <a:r>
              <a:rPr lang="en-US" dirty="0"/>
              <a:t>run-tests.ps1, </a:t>
            </a:r>
            <a:r>
              <a:rPr lang="ru-RU" dirty="0"/>
              <a:t>в т.ч. режимы только </a:t>
            </a:r>
            <a:r>
              <a:rPr lang="en-US" dirty="0"/>
              <a:t>backend </a:t>
            </a:r>
            <a:r>
              <a:rPr lang="ru-RU" dirty="0"/>
              <a:t>или только </a:t>
            </a:r>
            <a:r>
              <a:rPr lang="en-US" dirty="0"/>
              <a:t>e2e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305624-FCF6-0B37-D96E-92497523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10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0724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371D0-BC3A-D153-BB33-DBE9F02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E255E9-ED06-0E9C-2E0D-F58AACE51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95" y="1829366"/>
            <a:ext cx="10503010" cy="437996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Проверялись регистрация и вход, работа с проектами и участниками, создание и правка задач, комментарии и файлы, появление уведомлений, построение отчёта. Нарушения в API и в сценарии пользователя фиксируются тестами и логами прогона.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305624-FCF6-0B37-D96E-92497523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0543AD-D899-42C4-830B-C80E5E39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40" y="3557034"/>
            <a:ext cx="9175066" cy="228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94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27218-E350-68EB-9732-1204CC07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6AEAE-E112-46E8-B4D4-D2CC8F90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37" y="1693628"/>
            <a:ext cx="10526864" cy="44833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Собран прототип </a:t>
            </a:r>
            <a:r>
              <a:rPr lang="ru-RU" dirty="0" err="1"/>
              <a:t>микросервисной</a:t>
            </a:r>
            <a:r>
              <a:rPr lang="ru-RU" dirty="0"/>
              <a:t> системы учёта задач с веб-интерфейсом: роли, уведомления, вложения, отчёты. Данные разделены по сервисам; запуск описан через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. Набор тестов и задача в CI снижают риск поломки уже сделанного функционала при доработках. Работа может служить основой для защиты и для последующего расширения возможностей.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7525EC-7D0A-811F-4D4E-966867AA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047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27218-E350-68EB-9732-1204CC07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6AEAE-E112-46E8-B4D4-D2CC8F903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37" y="1693628"/>
            <a:ext cx="10526864" cy="4483335"/>
          </a:xfrm>
        </p:spPr>
        <p:txBody>
          <a:bodyPr/>
          <a:lstStyle/>
          <a:p>
            <a:pPr lvl="0"/>
            <a:r>
              <a:rPr lang="en-US" dirty="0"/>
              <a:t>Spring Boot</a:t>
            </a:r>
            <a:r>
              <a:rPr lang="ru-RU" dirty="0"/>
              <a:t> –</a:t>
            </a:r>
            <a:r>
              <a:rPr lang="en-US" dirty="0"/>
              <a:t>URL</a:t>
            </a:r>
            <a:r>
              <a:rPr lang="ru-RU" dirty="0"/>
              <a:t>: </a:t>
            </a:r>
            <a:r>
              <a:rPr lang="en-US" u="sng" dirty="0">
                <a:solidFill>
                  <a:srgbClr val="0070C0"/>
                </a:solidFill>
                <a:hlinkClick r:id="rId2"/>
              </a:rPr>
              <a:t>https://spring.io/projects/spring-boot</a:t>
            </a:r>
            <a:r>
              <a:rPr lang="ru-RU" u="sng" dirty="0">
                <a:solidFill>
                  <a:srgbClr val="0070C0"/>
                </a:solidFill>
              </a:rPr>
              <a:t> </a:t>
            </a:r>
            <a:r>
              <a:rPr lang="ru-RU" dirty="0"/>
              <a:t>(дата обращения 08.03.2026)</a:t>
            </a:r>
          </a:p>
          <a:p>
            <a:pPr lvl="0"/>
            <a:r>
              <a:rPr lang="en-US" dirty="0"/>
              <a:t>React</a:t>
            </a:r>
            <a:r>
              <a:rPr lang="ru-RU" dirty="0"/>
              <a:t> –</a:t>
            </a:r>
            <a:r>
              <a:rPr lang="en-US" dirty="0"/>
              <a:t>URL</a:t>
            </a:r>
            <a:r>
              <a:rPr lang="ru-RU" dirty="0"/>
              <a:t>: </a:t>
            </a:r>
            <a:r>
              <a:rPr lang="en-US" u="sng" dirty="0">
                <a:hlinkClick r:id="rId3"/>
              </a:rPr>
              <a:t>https://react.dev/</a:t>
            </a:r>
            <a:r>
              <a:rPr lang="ru-RU" dirty="0"/>
              <a:t> (дата обращения 15.03.2026).</a:t>
            </a:r>
          </a:p>
          <a:p>
            <a:pPr lvl="0"/>
            <a:r>
              <a:rPr lang="ru-RU" dirty="0"/>
              <a:t>Документация </a:t>
            </a:r>
            <a:r>
              <a:rPr lang="en-US" dirty="0"/>
              <a:t>PostgreSQL</a:t>
            </a:r>
            <a:r>
              <a:rPr lang="ru-RU" dirty="0"/>
              <a:t> –</a:t>
            </a:r>
            <a:r>
              <a:rPr lang="en-US" dirty="0"/>
              <a:t>URL</a:t>
            </a:r>
            <a:r>
              <a:rPr lang="ru-RU" dirty="0"/>
              <a:t>: </a:t>
            </a:r>
            <a:r>
              <a:rPr lang="en-US" u="sng" dirty="0">
                <a:solidFill>
                  <a:srgbClr val="0070C0"/>
                </a:solidFill>
                <a:hlinkClick r:id="rId4"/>
              </a:rPr>
              <a:t>https://www.postgresql.org/docs/</a:t>
            </a:r>
            <a:r>
              <a:rPr lang="ru-RU" u="sng" dirty="0">
                <a:solidFill>
                  <a:srgbClr val="0070C0"/>
                </a:solidFill>
              </a:rPr>
              <a:t> </a:t>
            </a:r>
            <a:r>
              <a:rPr lang="ru-RU" dirty="0"/>
              <a:t>(дата обращения 25.03.2026).</a:t>
            </a:r>
          </a:p>
          <a:p>
            <a:pPr lvl="0"/>
            <a:r>
              <a:rPr lang="en-US" dirty="0"/>
              <a:t>Docker Docs</a:t>
            </a:r>
            <a:r>
              <a:rPr lang="ru-RU" dirty="0"/>
              <a:t> –</a:t>
            </a:r>
            <a:r>
              <a:rPr lang="en-US" dirty="0"/>
              <a:t>URL</a:t>
            </a:r>
            <a:r>
              <a:rPr lang="ru-RU" dirty="0"/>
              <a:t>: </a:t>
            </a:r>
            <a:r>
              <a:rPr lang="en-US" u="sng" dirty="0">
                <a:hlinkClick r:id="rId5"/>
              </a:rPr>
              <a:t>https://docs.docker.com</a:t>
            </a:r>
            <a:r>
              <a:rPr lang="ru-RU" u="sng" dirty="0">
                <a:hlinkClick r:id="rId5"/>
              </a:rPr>
              <a:t>/</a:t>
            </a:r>
            <a:r>
              <a:rPr lang="ru-RU" dirty="0"/>
              <a:t> (дата обращения 02.04.2026).</a:t>
            </a:r>
          </a:p>
          <a:p>
            <a:r>
              <a:rPr lang="en-US" dirty="0" err="1"/>
              <a:t>Vitest</a:t>
            </a:r>
            <a:r>
              <a:rPr lang="ru-RU" dirty="0"/>
              <a:t> –</a:t>
            </a:r>
            <a:r>
              <a:rPr lang="en-US" dirty="0"/>
              <a:t>URL</a:t>
            </a:r>
            <a:r>
              <a:rPr lang="ru-RU" dirty="0"/>
              <a:t>: </a:t>
            </a:r>
            <a:r>
              <a:rPr lang="en-US" u="sng" dirty="0">
                <a:hlinkClick r:id="rId6"/>
              </a:rPr>
              <a:t>https://vitest.dev/ </a:t>
            </a:r>
            <a:r>
              <a:rPr lang="ru-RU" dirty="0"/>
              <a:t>(дата обращения 05.04.2026).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7525EC-7D0A-811F-4D4E-966867AA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1D5E06FF-FCB0-7174-58D6-7AE50B9CE33B}"/>
              </a:ext>
            </a:extLst>
          </p:cNvPr>
          <p:cNvSpPr txBox="1">
            <a:spLocks/>
          </p:cNvSpPr>
          <p:nvPr/>
        </p:nvSpPr>
        <p:spPr>
          <a:xfrm>
            <a:off x="0" y="5844209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400" kern="1200">
                <a:solidFill>
                  <a:srgbClr val="0070C0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A122864-3AA6-4297-8698-F1729B8C224A}" type="slidenum">
              <a:rPr lang="ru-RU" smtClean="0"/>
              <a:pPr algn="ctr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108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D54EF-521D-9B9F-4580-AEFD5394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Отзывы и рецензия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141391-590B-ADEA-918A-100162C5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ВКР (б) студента Кострюкова Евгения Сергеевича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E56F04-FC3F-25BB-BB85-B66116110C4F}"/>
              </a:ext>
            </a:extLst>
          </p:cNvPr>
          <p:cNvSpPr/>
          <p:nvPr/>
        </p:nvSpPr>
        <p:spPr>
          <a:xfrm>
            <a:off x="376552" y="1562470"/>
            <a:ext cx="3760441" cy="44033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Скан отзыва научного руководителя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78D573-7101-4E1F-DF86-5C6854D4BDAB}"/>
              </a:ext>
            </a:extLst>
          </p:cNvPr>
          <p:cNvSpPr/>
          <p:nvPr/>
        </p:nvSpPr>
        <p:spPr>
          <a:xfrm>
            <a:off x="4294568" y="1562470"/>
            <a:ext cx="3760441" cy="44033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Скан отзыва</a:t>
            </a:r>
            <a:b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от предприятия-заказчика разработки (при наличии)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3B9F7FE-A782-0DFE-8E68-62408BA58259}"/>
              </a:ext>
            </a:extLst>
          </p:cNvPr>
          <p:cNvSpPr/>
          <p:nvPr/>
        </p:nvSpPr>
        <p:spPr>
          <a:xfrm>
            <a:off x="8212584" y="1562470"/>
            <a:ext cx="3760441" cy="44033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Arial Narrow" panose="020B0606020202030204" pitchFamily="34" charset="0"/>
              </a:rPr>
              <a:t>Скан рецензии</a:t>
            </a:r>
          </a:p>
        </p:txBody>
      </p:sp>
    </p:spTree>
    <p:extLst>
      <p:ext uri="{BB962C8B-B14F-4D97-AF65-F5344CB8AC3E}">
        <p14:creationId xmlns:p14="http://schemas.microsoft.com/office/powerpoint/2010/main" val="645871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7040</TotalTime>
  <Words>1080</Words>
  <Application>Microsoft Office PowerPoint</Application>
  <PresentationFormat>Широкоэкранный</PresentationFormat>
  <Paragraphs>113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Arial Narrow</vt:lpstr>
      <vt:lpstr>Calibri</vt:lpstr>
      <vt:lpstr>Impact</vt:lpstr>
      <vt:lpstr>Times New Roman</vt:lpstr>
      <vt:lpstr>Тема Office</vt:lpstr>
      <vt:lpstr>Выпускная квалификационная работа бакалавра на тему: «Микросервисное веб-приложение для управления внутренними задачами, проектами и коммуникацией команды»</vt:lpstr>
      <vt:lpstr>Актуальность темы</vt:lpstr>
      <vt:lpstr>Цель и задачи работы</vt:lpstr>
      <vt:lpstr>Ограничения задачи</vt:lpstr>
      <vt:lpstr>Порядок выполнения работы</vt:lpstr>
      <vt:lpstr>Средства  и методы разработки</vt:lpstr>
      <vt:lpstr>Архитектура проекта</vt:lpstr>
      <vt:lpstr>ER-диаграммы баз данных</vt:lpstr>
      <vt:lpstr>Состав backend-сервисов</vt:lpstr>
      <vt:lpstr>Клиентское приложение</vt:lpstr>
      <vt:lpstr>QR-код ссылки, где выложен код:</vt:lpstr>
      <vt:lpstr>Описание программной разработки</vt:lpstr>
      <vt:lpstr>Пример реализации функций </vt:lpstr>
      <vt:lpstr> Тестирование</vt:lpstr>
      <vt:lpstr> Тестирование</vt:lpstr>
      <vt:lpstr>Результат</vt:lpstr>
      <vt:lpstr>Источники</vt:lpstr>
      <vt:lpstr>Отзывы и рецензия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на тему: «Название выпускной  квалификационной работы»</dc:title>
  <dc:creator>4562</dc:creator>
  <cp:lastModifiedBy>Евгений Кострюков</cp:lastModifiedBy>
  <cp:revision>79</cp:revision>
  <dcterms:created xsi:type="dcterms:W3CDTF">2023-03-28T19:07:26Z</dcterms:created>
  <dcterms:modified xsi:type="dcterms:W3CDTF">2026-05-16T14:13:01Z</dcterms:modified>
</cp:coreProperties>
</file>